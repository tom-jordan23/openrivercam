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r>
              <a:rPr sz="2000">
                <a:solidFill>
                  <a:srgbClr val="1A1A1A"/>
                </a:solidFill>
              </a:rPr>
              <a:t>OpenRiverCam in Indonesia</a:t>
            </a:r>
          </a:p>
          <a:p>
            <a:pPr/>
            <a:r>
              <a:rPr sz="1200">
                <a:solidFill>
                  <a:srgbClr val="6B6A66"/>
                </a:solidFill>
              </a:rPr>
              <a:t>What the pilot taught us, and the path forward</a:t>
            </a:r>
            <a:br/>
            <a:r>
              <a:rPr sz="1200">
                <a:solidFill>
                  <a:srgbClr val="6B6A66"/>
                </a:solidFill>
              </a:rPr>
              <a:t>Response to the PMI / IPB / BHLK meeting, Sukabumi, 21 August 2026</a:t>
            </a:r>
          </a:p>
          <a:p>
            <a:pPr/>
            <a:r>
              <a:rPr sz="1000">
                <a:solidFill>
                  <a:srgbClr val="6B6A66"/>
                </a:solidFill>
              </a:rPr>
              <a:t>Palang Merah Indonesia  ·  Institut Pertanian Bogor  ·  Balai Hidrologi dan Lingkungan Keairan  ·  American Red Cross</a:t>
            </a:r>
          </a:p>
          <a:p>
            <a:pP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TextBox 7"/>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and what we would build instead</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 When it stopped, it stopped quietly.</a:t>
            </a:r>
          </a:p>
          <a:p>
            <a:pPr lvl="1"/>
            <a:r>
              <a:rPr sz="1350">
                <a:solidFill>
                  <a:srgbClr val="6B6A66"/>
                </a:solidFill>
              </a:rPr>
              <a:t>Instead: report state on every waking, and make any mode that suppresses data expire on its own and raise an alert. R4, R5.</a:t>
            </a:r>
          </a:p>
          <a:p>
            <a:pPr/>
            <a:r>
              <a:rPr sz="1500">
                <a:solidFill>
                  <a:srgbClr val="1A1A1A"/>
                </a:solidFill>
              </a:rPr>
              <a:t>Nothing reconciles what was recorded against what arrived.</a:t>
            </a:r>
          </a:p>
          <a:p>
            <a:pPr lvl="1"/>
            <a:r>
              <a:rPr sz="1350">
                <a:solidFill>
                  <a:srgbClr val="6B6A66"/>
                </a:solidFill>
              </a:rPr>
              <a:t>Instead: compare the station's record against the server's on a schedule. Small piece of software; should have been in version one. R7.</a:t>
            </a:r>
          </a:p>
          <a:p>
            <a:pPr/>
            <a:r>
              <a:rPr sz="1500">
                <a:solidFill>
                  <a:srgbClr val="1A1A1A"/>
                </a:solidFill>
              </a:rPr>
              <a:t>Water level is read from the image, and daylight defeats it.</a:t>
            </a:r>
          </a:p>
          <a:p>
            <a:pPr lvl="1"/>
            <a:r>
              <a:rPr sz="1350">
                <a:solidFill>
                  <a:srgbClr val="6B6A66"/>
                </a:solidFill>
              </a:rPr>
              <a:t>Instead: an independent water-level reference, so the measurement does not rest on one optical method succeeding. R1.</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Eleven things we would do differently</a:t>
            </a:r>
          </a:p>
        </p:txBody>
      </p:sp>
      <p:sp>
        <p:nvSpPr>
          <p:cNvPr id="3" name="Text Placeholder 2"/>
          <p:cNvSpPr>
            <a:spLocks noGrp="1"/>
          </p:cNvSpPr>
          <p:nvPr>
            <p:ph type="body" idx="12" sz="quarter"/>
          </p:nvPr>
        </p:nvSpPr>
        <p:spPr/>
        <p:txBody>
          <a:bodyPr wrap="square"/>
          <a:lstStyle/>
          <a:p>
            <a:pPr/>
            <a:r>
              <a:rPr sz="1400">
                <a:solidFill>
                  <a:srgbClr val="1A1A1A"/>
                </a:solidFill>
              </a:rPr>
              <a:t>Offered as input to your design, not as corrections to ours. We would not expect them adopted as a set.</a:t>
            </a:r>
          </a:p>
          <a:p>
            <a:pPr/>
            <a:r>
              <a:rPr sz="1400">
                <a:solidFill>
                  <a:srgbClr val="1A1A1A"/>
                </a:solidFill>
              </a:rPr>
              <a:t>Let the station account for itself — R4, R5, R6, R7.</a:t>
            </a:r>
          </a:p>
          <a:p>
            <a:pPr lvl="1"/>
            <a:r>
              <a:rPr sz="1250">
                <a:solidFill>
                  <a:srgbClr val="6B6A66"/>
                </a:solidFill>
              </a:rPr>
              <a:t>Nothing here is difficult or costly. The setting behind nine of the thirteen interruptions was readable remotely the whole time, and no software asked.</a:t>
            </a:r>
          </a:p>
          <a:p>
            <a:pPr/>
            <a:r>
              <a:rPr sz="1400">
                <a:solidFill>
                  <a:srgbClr val="1A1A1A"/>
                </a:solidFill>
              </a:rPr>
              <a:t>Make the measurement trustworthy — R1, R2.</a:t>
            </a:r>
          </a:p>
          <a:p>
            <a:pPr lvl="1"/>
            <a:r>
              <a:rPr sz="1250">
                <a:solidFill>
                  <a:srgbClr val="6B6A66"/>
                </a:solidFill>
              </a:rPr>
              <a:t>An independent water-level reference, and survey planned as professional work from the start. We learned that the hard way; IPB's total-station survey is what the station runs on today.</a:t>
            </a:r>
          </a:p>
          <a:p>
            <a:pPr/>
            <a:r>
              <a:rPr sz="1400">
                <a:solidFill>
                  <a:srgbClr val="1A1A1A"/>
                </a:solidFill>
              </a:rPr>
              <a:t>Make the units buildable and maintainable in Indonesia — R3, R8, R9, R10, R11.</a:t>
            </a:r>
          </a:p>
          <a:p>
            <a:pPr lvl="1"/>
            <a:r>
              <a:rPr sz="1250">
                <a:solidFill>
                  <a:srgbClr val="6B6A66"/>
                </a:solidFill>
              </a:rPr>
              <a:t>You will buy under Indonesian procurement rules, so substitution is the expected case rather than a risk to be managed.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R1–R6</a:t>
            </a:r>
          </a:p>
        </p:txBody>
      </p:sp>
      <p:graphicFrame>
        <p:nvGraphicFramePr>
          <p:cNvPr id="3" name="Table 2"/>
          <p:cNvGraphicFramePr>
            <a:graphicFrameLocks noGrp="1"/>
          </p:cNvGraphicFramePr>
          <p:nvPr/>
        </p:nvGraphicFramePr>
        <p:xfrm>
          <a:off x="457200" y="1155065"/>
          <a:ext cx="8229600" cy="2176272"/>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R1</a:t>
                      </a:r>
                    </a:p>
                  </a:txBody>
                  <a:tcPr marT="27432" marB="27432"/>
                </a:tc>
                <a:tc>
                  <a:txBody>
                    <a:bodyPr/>
                    <a:lstStyle/>
                    <a:p>
                      <a:r>
                        <a:rPr sz="900" b="0">
                          <a:solidFill>
                            <a:srgbClr val="1A1A1A"/>
                          </a:solidFill>
                        </a:rPr>
                        <a:t>Fit an independent water-level reference</a:t>
                      </a:r>
                    </a:p>
                  </a:txBody>
                  <a:tcPr marT="27432" marB="27432"/>
                </a:tc>
                <a:tc>
                  <a:txBody>
                    <a:bodyPr/>
                    <a:lstStyle/>
                    <a:p>
                      <a:r>
                        <a:rPr sz="900" b="0">
                          <a:solidFill>
                            <a:srgbClr val="1A1A1A"/>
                          </a:solidFill>
                        </a:rPr>
                        <a:t>Measurement through the day</a:t>
                      </a:r>
                    </a:p>
                  </a:txBody>
                  <a:tcPr marT="27432" marB="27432"/>
                </a:tc>
                <a:tc>
                  <a:txBody>
                    <a:bodyPr/>
                    <a:lstStyle/>
                    <a:p>
                      <a:r>
                        <a:rPr sz="900" b="0">
                          <a:solidFill>
                            <a:srgbClr val="1A1A1A"/>
                          </a:solidFill>
                        </a:rPr>
                        <a:t>A sensor, or a staff gauge in view</a:t>
                      </a:r>
                    </a:p>
                  </a:txBody>
                  <a:tcPr marT="27432" marB="27432"/>
                </a:tc>
              </a:tr>
              <a:tr h="310896">
                <a:tc>
                  <a:txBody>
                    <a:bodyPr/>
                    <a:lstStyle/>
                    <a:p>
                      <a:r>
                        <a:rPr sz="900" b="0">
                          <a:solidFill>
                            <a:srgbClr val="1A1A1A"/>
                          </a:solidFill>
                        </a:rPr>
                        <a:t>R2</a:t>
                      </a:r>
                    </a:p>
                  </a:txBody>
                  <a:tcPr marT="27432" marB="27432"/>
                </a:tc>
                <a:tc>
                  <a:txBody>
                    <a:bodyPr/>
                    <a:lstStyle/>
                    <a:p>
                      <a:r>
                        <a:rPr sz="900" b="0">
                          <a:solidFill>
                            <a:srgbClr val="1A1A1A"/>
                          </a:solidFill>
                        </a:rPr>
                        <a:t>Commission a professional survey first</a:t>
                      </a:r>
                    </a:p>
                  </a:txBody>
                  <a:tcPr marT="27432" marB="27432"/>
                </a:tc>
                <a:tc>
                  <a:txBody>
                    <a:bodyPr/>
                    <a:lstStyle/>
                    <a:p>
                      <a:r>
                        <a:rPr sz="900" b="0">
                          <a:solidFill>
                            <a:srgbClr val="1A1A1A"/>
                          </a:solidFill>
                        </a:rPr>
                        <a:t>The one input processing cannot recover</a:t>
                      </a:r>
                    </a:p>
                  </a:txBody>
                  <a:tcPr marT="27432" marB="27432"/>
                </a:tc>
                <a:tc>
                  <a:txBody>
                    <a:bodyPr/>
                    <a:lstStyle/>
                    <a:p>
                      <a:r>
                        <a:rPr sz="900" b="0">
                          <a:solidFill>
                            <a:srgbClr val="1A1A1A"/>
                          </a:solidFill>
                        </a:rPr>
                        <a:t>Rp 5–15 million per site</a:t>
                      </a:r>
                    </a:p>
                  </a:txBody>
                  <a:tcPr marT="27432" marB="27432"/>
                </a:tc>
              </a:tr>
              <a:tr h="310896">
                <a:tc>
                  <a:txBody>
                    <a:bodyPr/>
                    <a:lstStyle/>
                    <a:p>
                      <a:r>
                        <a:rPr sz="900" b="0">
                          <a:solidFill>
                            <a:srgbClr val="1A1A1A"/>
                          </a:solidFill>
                        </a:rPr>
                        <a:t>R3</a:t>
                      </a:r>
                    </a:p>
                  </a:txBody>
                  <a:tcPr marT="27432" marB="27432"/>
                </a:tc>
                <a:tc>
                  <a:txBody>
                    <a:bodyPr/>
                    <a:lstStyle/>
                    <a:p>
                      <a:r>
                        <a:rPr sz="900" b="0">
                          <a:solidFill>
                            <a:srgbClr val="1A1A1A"/>
                          </a:solidFill>
                        </a:rPr>
                        <a:t>Specify interfaces, not part numbers</a:t>
                      </a:r>
                    </a:p>
                  </a:txBody>
                  <a:tcPr marT="27432" marB="27432"/>
                </a:tc>
                <a:tc>
                  <a:txBody>
                    <a:bodyPr/>
                    <a:lstStyle/>
                    <a:p>
                      <a:r>
                        <a:rPr sz="900" b="0">
                          <a:solidFill>
                            <a:srgbClr val="1A1A1A"/>
                          </a:solidFill>
                        </a:rPr>
                        <a:t>Local procurement without referring back to us</a:t>
                      </a:r>
                    </a:p>
                  </a:txBody>
                  <a:tcPr marT="27432" marB="27432"/>
                </a:tc>
                <a:tc>
                  <a:txBody>
                    <a:bodyPr/>
                    <a:lstStyle/>
                    <a:p>
                      <a:r>
                        <a:rPr sz="900" b="0">
                          <a:solidFill>
                            <a:srgbClr val="1A1A1A"/>
                          </a:solidFill>
                        </a:rPr>
                        <a:t>Documentation only</a:t>
                      </a:r>
                    </a:p>
                  </a:txBody>
                  <a:tcPr marT="27432" marB="27432"/>
                </a:tc>
              </a:tr>
              <a:tr h="310896">
                <a:tc>
                  <a:txBody>
                    <a:bodyPr/>
                    <a:lstStyle/>
                    <a:p>
                      <a:r>
                        <a:rPr sz="900" b="0">
                          <a:solidFill>
                            <a:srgbClr val="1A1A1A"/>
                          </a:solidFill>
                        </a:rPr>
                        <a:t>R4</a:t>
                      </a:r>
                    </a:p>
                  </a:txBody>
                  <a:tcPr marT="27432" marB="27432"/>
                </a:tc>
                <a:tc>
                  <a:txBody>
                    <a:bodyPr/>
                    <a:lstStyle/>
                    <a:p>
                      <a:r>
                        <a:rPr sz="900" b="0">
                          <a:solidFill>
                            <a:srgbClr val="1A1A1A"/>
                          </a:solidFill>
                        </a:rPr>
                        <a:t>Health reporting and mode alarms as requirements</a:t>
                      </a:r>
                    </a:p>
                  </a:txBody>
                  <a:tcPr marT="27432" marB="27432"/>
                </a:tc>
                <a:tc>
                  <a:txBody>
                    <a:bodyPr/>
                    <a:lstStyle/>
                    <a:p>
                      <a:r>
                        <a:rPr sz="900" b="0">
                          <a:solidFill>
                            <a:srgbClr val="1A1A1A"/>
                          </a:solidFill>
                        </a:rPr>
                        <a:t>The station reports its own condition</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R5</a:t>
                      </a:r>
                    </a:p>
                  </a:txBody>
                  <a:tcPr marT="27432" marB="27432"/>
                </a:tc>
                <a:tc>
                  <a:txBody>
                    <a:bodyPr/>
                    <a:lstStyle/>
                    <a:p>
                      <a:r>
                        <a:rPr sz="900" b="0">
                          <a:solidFill>
                            <a:srgbClr val="1A1A1A"/>
                          </a:solidFill>
                        </a:rPr>
                        <a:t>Station sends diagnostics; no login required</a:t>
                      </a:r>
                    </a:p>
                  </a:txBody>
                  <a:tcPr marT="27432" marB="27432"/>
                </a:tc>
                <a:tc>
                  <a:txBody>
                    <a:bodyPr/>
                    <a:lstStyle/>
                    <a:p>
                      <a:r>
                        <a:rPr sz="900" b="0">
                          <a:solidFill>
                            <a:srgbClr val="1A1A1A"/>
                          </a:solidFill>
                        </a:rPr>
                        <a:t>Support inside a short waking period</a:t>
                      </a:r>
                    </a:p>
                  </a:txBody>
                  <a:tcPr marT="27432" marB="27432"/>
                </a:tc>
                <a:tc>
                  <a:txBody>
                    <a:bodyPr/>
                    <a:lstStyle/>
                    <a:p>
                      <a:r>
                        <a:rPr sz="900" b="0">
                          <a:solidFill>
                            <a:srgbClr val="1A1A1A"/>
                          </a:solidFill>
                        </a:rPr>
                        <a:t>Small</a:t>
                      </a:r>
                    </a:p>
                  </a:txBody>
                  <a:tcPr marT="27432" marB="27432"/>
                </a:tc>
              </a:tr>
              <a:tr h="310896">
                <a:tc>
                  <a:txBody>
                    <a:bodyPr/>
                    <a:lstStyle/>
                    <a:p>
                      <a:r>
                        <a:rPr sz="900" b="0">
                          <a:solidFill>
                            <a:srgbClr val="1A1A1A"/>
                          </a:solidFill>
                        </a:rPr>
                        <a:t>R6</a:t>
                      </a:r>
                    </a:p>
                  </a:txBody>
                  <a:tcPr marT="27432" marB="27432"/>
                </a:tc>
                <a:tc>
                  <a:txBody>
                    <a:bodyPr/>
                    <a:lstStyle/>
                    <a:p>
                      <a:r>
                        <a:rPr sz="900" b="0">
                          <a:solidFill>
                            <a:srgbClr val="1A1A1A"/>
                          </a:solidFill>
                        </a:rPr>
                        <a:t>Record voltage and current together</a:t>
                      </a:r>
                    </a:p>
                  </a:txBody>
                  <a:tcPr marT="27432" marB="27432"/>
                </a:tc>
                <a:tc>
                  <a:txBody>
                    <a:bodyPr/>
                    <a:lstStyle/>
                    <a:p>
                      <a:r>
                        <a:rPr sz="900" b="0">
                          <a:solidFill>
                            <a:srgbClr val="1A1A1A"/>
                          </a:solidFill>
                        </a:rPr>
                        <a:t>Separates a failing battery from a heavy load</a:t>
                      </a:r>
                    </a:p>
                  </a:txBody>
                  <a:tcPr marT="27432" marB="27432"/>
                </a:tc>
                <a:tc>
                  <a:txBody>
                    <a:bodyPr/>
                    <a:lstStyle/>
                    <a:p>
                      <a:r>
                        <a:rPr sz="900" b="0">
                          <a:solidFill>
                            <a:srgbClr val="1A1A1A"/>
                          </a:solidFill>
                        </a:rPr>
                        <a:t>A sensing module</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R7–R11</a:t>
            </a:r>
          </a:p>
        </p:txBody>
      </p:sp>
      <p:graphicFrame>
        <p:nvGraphicFramePr>
          <p:cNvPr id="3" name="Table 2"/>
          <p:cNvGraphicFramePr>
            <a:graphicFrameLocks noGrp="1"/>
          </p:cNvGraphicFramePr>
          <p:nvPr/>
        </p:nvGraphicFramePr>
        <p:xfrm>
          <a:off x="457200" y="1155065"/>
          <a:ext cx="8229600" cy="1865376"/>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R7</a:t>
                      </a:r>
                    </a:p>
                  </a:txBody>
                  <a:tcPr marT="27432" marB="27432"/>
                </a:tc>
                <a:tc>
                  <a:txBody>
                    <a:bodyPr/>
                    <a:lstStyle/>
                    <a:p>
                      <a:r>
                        <a:rPr sz="900" b="0">
                          <a:solidFill>
                            <a:srgbClr val="1A1A1A"/>
                          </a:solidFill>
                        </a:rPr>
                        <a:t>Compare recorded against received, automatically</a:t>
                      </a:r>
                    </a:p>
                  </a:txBody>
                  <a:tcPr marT="27432" marB="27432"/>
                </a:tc>
                <a:tc>
                  <a:txBody>
                    <a:bodyPr/>
                    <a:lstStyle/>
                    <a:p>
                      <a:r>
                        <a:rPr sz="900" b="0">
                          <a:solidFill>
                            <a:srgbClr val="1A1A1A"/>
                          </a:solidFill>
                        </a:rPr>
                        <a:t>Loss is noticed, not discovered later</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R8</a:t>
                      </a:r>
                    </a:p>
                  </a:txBody>
                  <a:tcPr marT="27432" marB="27432"/>
                </a:tc>
                <a:tc>
                  <a:txBody>
                    <a:bodyPr/>
                    <a:lstStyle/>
                    <a:p>
                      <a:r>
                        <a:rPr sz="900" b="0">
                          <a:solidFill>
                            <a:srgbClr val="1A1A1A"/>
                          </a:solidFill>
                        </a:rPr>
                        <a:t>Put the computer indoors</a:t>
                      </a:r>
                    </a:p>
                  </a:txBody>
                  <a:tcPr marT="27432" marB="27432"/>
                </a:tc>
                <a:tc>
                  <a:txBody>
                    <a:bodyPr/>
                    <a:lstStyle/>
                    <a:p>
                      <a:r>
                        <a:rPr sz="900" b="0">
                          <a:solidFill>
                            <a:srgbClr val="1A1A1A"/>
                          </a:solidFill>
                        </a:rPr>
                        <a:t>Removes it from heat, humidity, dust and travel</a:t>
                      </a:r>
                    </a:p>
                  </a:txBody>
                  <a:tcPr marT="27432" marB="27432"/>
                </a:tc>
                <a:tc>
                  <a:txBody>
                    <a:bodyPr/>
                    <a:lstStyle/>
                    <a:p>
                      <a:r>
                        <a:rPr sz="900" b="0">
                          <a:solidFill>
                            <a:srgbClr val="1A1A1A"/>
                          </a:solidFill>
                        </a:rPr>
                        <a:t>Designed, not yet field tested</a:t>
                      </a:r>
                    </a:p>
                  </a:txBody>
                  <a:tcPr marT="27432" marB="27432"/>
                </a:tc>
              </a:tr>
              <a:tr h="310896">
                <a:tc>
                  <a:txBody>
                    <a:bodyPr/>
                    <a:lstStyle/>
                    <a:p>
                      <a:r>
                        <a:rPr sz="900" b="0">
                          <a:solidFill>
                            <a:srgbClr val="1A1A1A"/>
                          </a:solidFill>
                        </a:rPr>
                        <a:t>R9</a:t>
                      </a:r>
                    </a:p>
                  </a:txBody>
                  <a:tcPr marT="27432" marB="27432"/>
                </a:tc>
                <a:tc>
                  <a:txBody>
                    <a:bodyPr/>
                    <a:lstStyle/>
                    <a:p>
                      <a:r>
                        <a:rPr sz="900" b="0">
                          <a:solidFill>
                            <a:srgbClr val="1A1A1A"/>
                          </a:solidFill>
                        </a:rPr>
                        <a:t>Budget per station; check the interface before buying</a:t>
                      </a:r>
                    </a:p>
                  </a:txBody>
                  <a:tcPr marT="27432" marB="27432"/>
                </a:tc>
                <a:tc>
                  <a:txBody>
                    <a:bodyPr/>
                    <a:lstStyle/>
                    <a:p>
                      <a:r>
                        <a:rPr sz="900" b="0">
                          <a:solidFill>
                            <a:srgbClr val="1A1A1A"/>
                          </a:solidFill>
                        </a:rPr>
                        <a:t>A network that stays affordable</a:t>
                      </a:r>
                    </a:p>
                  </a:txBody>
                  <a:tcPr marT="27432" marB="27432"/>
                </a:tc>
                <a:tc>
                  <a:txBody>
                    <a:bodyPr/>
                    <a:lstStyle/>
                    <a:p>
                      <a:r>
                        <a:rPr sz="900" b="0">
                          <a:solidFill>
                            <a:srgbClr val="1A1A1A"/>
                          </a:solidFill>
                        </a:rPr>
                        <a:t>Screening effort</a:t>
                      </a:r>
                    </a:p>
                  </a:txBody>
                  <a:tcPr marT="27432" marB="27432"/>
                </a:tc>
              </a:tr>
              <a:tr h="310896">
                <a:tc>
                  <a:txBody>
                    <a:bodyPr/>
                    <a:lstStyle/>
                    <a:p>
                      <a:r>
                        <a:rPr sz="900" b="0">
                          <a:solidFill>
                            <a:srgbClr val="1A1A1A"/>
                          </a:solidFill>
                        </a:rPr>
                        <a:t>R10</a:t>
                      </a:r>
                    </a:p>
                  </a:txBody>
                  <a:tcPr marT="27432" marB="27432"/>
                </a:tc>
                <a:tc>
                  <a:txBody>
                    <a:bodyPr/>
                    <a:lstStyle/>
                    <a:p>
                      <a:r>
                        <a:rPr sz="900" b="0">
                          <a:solidFill>
                            <a:srgbClr val="1A1A1A"/>
                          </a:solidFill>
                        </a:rPr>
                        <a:t>Use the computer's own clock where the site allows</a:t>
                      </a:r>
                    </a:p>
                  </a:txBody>
                  <a:tcPr marT="27432" marB="27432"/>
                </a:tc>
                <a:tc>
                  <a:txBody>
                    <a:bodyPr/>
                    <a:lstStyle/>
                    <a:p>
                      <a:r>
                        <a:rPr sz="900" b="0">
                          <a:solidFill>
                            <a:srgbClr val="1A1A1A"/>
                          </a:solidFill>
                        </a:rPr>
                        <a:t>One less board to fail</a:t>
                      </a:r>
                    </a:p>
                  </a:txBody>
                  <a:tcPr marT="27432" marB="27432"/>
                </a:tc>
                <a:tc>
                  <a:txBody>
                    <a:bodyPr/>
                    <a:lstStyle/>
                    <a:p>
                      <a:r>
                        <a:rPr sz="900" b="0">
                          <a:solidFill>
                            <a:srgbClr val="1A1A1A"/>
                          </a:solidFill>
                        </a:rPr>
                        <a:t>Saves about USD 50 per station</a:t>
                      </a:r>
                    </a:p>
                  </a:txBody>
                  <a:tcPr marT="27432" marB="27432"/>
                </a:tc>
              </a:tr>
              <a:tr h="310896">
                <a:tc>
                  <a:txBody>
                    <a:bodyPr/>
                    <a:lstStyle/>
                    <a:p>
                      <a:r>
                        <a:rPr sz="900" b="0">
                          <a:solidFill>
                            <a:srgbClr val="1A1A1A"/>
                          </a:solidFill>
                        </a:rPr>
                        <a:t>R11</a:t>
                      </a:r>
                    </a:p>
                  </a:txBody>
                  <a:tcPr marT="27432" marB="27432"/>
                </a:tc>
                <a:tc>
                  <a:txBody>
                    <a:bodyPr/>
                    <a:lstStyle/>
                    <a:p>
                      <a:r>
                        <a:rPr sz="900" b="0">
                          <a:solidFill>
                            <a:srgbClr val="1A1A1A"/>
                          </a:solidFill>
                        </a:rPr>
                        <a:t>Build on mains and leave it running, where continuous reporting is wanted</a:t>
                      </a:r>
                    </a:p>
                  </a:txBody>
                  <a:tcPr marT="27432" marB="27432"/>
                </a:tc>
                <a:tc>
                  <a:txBody>
                    <a:bodyPr/>
                    <a:lstStyle/>
                    <a:p>
                      <a:r>
                        <a:rPr sz="900" b="0">
                          <a:solidFill>
                            <a:srgbClr val="1A1A1A"/>
                          </a:solidFill>
                        </a:rPr>
                        <a:t>Removes most of the gaps above</a:t>
                      </a:r>
                    </a:p>
                  </a:txBody>
                  <a:tcPr marT="27432" marB="27432"/>
                </a:tc>
                <a:tc>
                  <a:txBody>
                    <a:bodyPr/>
                    <a:lstStyle/>
                    <a:p>
                      <a:r>
                        <a:rPr sz="900" b="0">
                          <a:solidFill>
                            <a:srgbClr val="1A1A1A"/>
                          </a:solidFill>
                        </a:rPr>
                        <a:t>No solar array to buy; constrains siting</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R8 — the least proven change, and possibly the most useful</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TextBox 5"/>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7" name="TextBox 6"/>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 PMI · IPB · BHLK · American Red Cross</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21</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