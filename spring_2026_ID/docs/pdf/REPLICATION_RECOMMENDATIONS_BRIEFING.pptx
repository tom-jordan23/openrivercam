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r>
              <a:rPr sz="2000">
                <a:solidFill>
                  <a:srgbClr val="1A1A1A"/>
                </a:solidFill>
              </a:rPr>
              <a:t>Recommendations for Replication of the OpenRiverCam Station Design</a:t>
            </a:r>
          </a:p>
          <a:p>
            <a:pPr/>
            <a:r>
              <a:rPr sz="1200">
                <a:solidFill>
                  <a:srgbClr val="6B6A66"/>
                </a:solidFill>
              </a:rPr>
              <a:t>Response to the PMI / IPB / BHLK meeting, Sukabumi, 21 August 2026</a:t>
            </a:r>
          </a:p>
          <a:p>
            <a:pPr/>
            <a:r>
              <a:rPr sz="1000">
                <a:solidFill>
                  <a:srgbClr val="6B6A66"/>
                </a:solidFill>
              </a:rPr>
              <a:t>Palang Merah Indonesia  ·  Institut Pertanian Bogor  ·  Balai Hidrologi dan Lingkungan Keairan</a:t>
            </a:r>
          </a:p>
          <a:p>
            <a:pP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Scope of this briefing</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it did in the field, and what should change before duplicate units are constructed.</a:t>
            </a:r>
          </a:p>
          <a:p>
            <a:pPr/>
            <a:r>
              <a:rPr sz="1500">
                <a:solidFill>
                  <a:srgbClr val="1A1A1A"/>
                </a:solidFill>
              </a:rPr>
              <a:t>Not in scope: what the data is fit to support, or what accuracy any given application demands.</a:t>
            </a:r>
          </a:p>
          <a:p>
            <a:pPr lvl="1"/>
            <a:r>
              <a:rPr sz="1350">
                <a:solidFill>
                  <a:srgbClr val="6B6A66"/>
                </a:solidFill>
              </a:rPr>
              <a:t>Those judgements are for IPB, BHLK and their federal partners.</a:t>
            </a:r>
          </a:p>
          <a:p>
            <a:pPr lvl="1"/>
            <a:r>
              <a:rPr sz="1350">
                <a:solidFill>
                  <a:srgbClr val="6B6A66"/>
                </a:solidFill>
              </a:rPr>
              <a:t>Measurement requirements shown here are recorded from them, not proposed by us.</a:t>
            </a:r>
          </a:p>
          <a:p>
            <a:pPr/>
            <a:r>
              <a:rPr sz="1500">
                <a:solidFill>
                  <a:srgbClr val="1A1A1A"/>
                </a:solidFill>
              </a:rPr>
              <a:t>Source: the full report and its appendix, circulated with this deck.</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All three are welcomed.</a:t>
            </a:r>
          </a:p>
        </p:txBody>
      </p:sp>
      <p:sp>
        <p:nvSpPr>
          <p:cNvPr id="3" name="Text Placeholder 2"/>
          <p:cNvSpPr>
            <a:spLocks noGrp="1"/>
          </p:cNvSpPr>
          <p:nvPr>
            <p:ph type="body" idx="12" sz="quarter"/>
          </p:nvPr>
        </p:nvSpPr>
        <p:spPr/>
        <p:txBody>
          <a:bodyPr wrap="square"/>
          <a:lstStyle/>
          <a:p>
            <a:pPr/>
            <a:r>
              <a:rPr sz="1500">
                <a:solidFill>
                  <a:srgbClr val="1A1A1A"/>
                </a:solidFill>
              </a:rPr>
              <a:t>Duplicate one to three ORC devices as a pilot.</a:t>
            </a:r>
          </a:p>
          <a:p>
            <a:pPr lvl="1"/>
            <a:r>
              <a:rPr sz="1350">
                <a:solidFill>
                  <a:srgbClr val="6B6A66"/>
                </a:solidFill>
              </a:rPr>
              <a:t>Supported. This deck is what we would change first.</a:t>
            </a:r>
          </a:p>
          <a:p>
            <a:pPr/>
            <a:r>
              <a:rPr sz="1500">
                <a:solidFill>
                  <a:srgbClr val="1A1A1A"/>
                </a:solidFill>
              </a:rPr>
              <a:t>Provide server capacity for ORC data.</a:t>
            </a:r>
          </a:p>
          <a:p>
            <a:pPr lvl="1"/>
            <a:r>
              <a:rPr sz="1350">
                <a:solidFill>
                  <a:srgbClr val="6B6A66"/>
                </a:solidFill>
              </a:rPr>
              <a:t>Well matched to the pilot, with a clear data-sovereignty benefit. Two operational constraints to plan for.</a:t>
            </a:r>
          </a:p>
          <a:p>
            <a:pPr/>
            <a:r>
              <a:rPr sz="1500">
                <a:solidFill>
                  <a:srgbClr val="1A1A1A"/>
                </a:solidFill>
              </a:rPr>
              <a:t>Relocate the present site to an open area free of obstruction.</a:t>
            </a:r>
          </a:p>
          <a:p>
            <a:pPr lvl="1"/>
            <a:r>
              <a:rPr sz="1350">
                <a:solidFill>
                  <a:srgbClr val="6B6A66"/>
                </a:solidFill>
              </a:rPr>
              <a:t>Supported. The field record adds independent evidence for it.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sp>
        <p:nvSpPr>
          <p:cNvPr id="3" name="Text Placeholder 2"/>
          <p:cNvSpPr>
            <a:spLocks noGrp="1"/>
          </p:cNvSpPr>
          <p:nvPr>
            <p:ph type="body" idx="12" sz="quarter"/>
          </p:nvPr>
        </p:nvSpPr>
        <p:spPr/>
        <p:txBody>
          <a:bodyPr wrap="square"/>
          <a:lstStyle/>
          <a:p>
            <a:pPr/>
            <a:r>
              <a:rPr sz="1500">
                <a:solidFill>
                  <a:srgbClr val="1A1A1A"/>
                </a:solidFill>
              </a:rPr>
              <a:t>PoE camera on a pole, Raspberry Pi 5 in a weatherproof enclosure, on-station processing, LTE upload. Commodity parts throughout.</a:t>
            </a:r>
          </a:p>
          <a:p>
            <a:pPr/>
            <a:r>
              <a:rPr sz="1500">
                <a:solidFill>
                  <a:srgbClr val="1A1A1A"/>
                </a:solidFill>
              </a:rPr>
              <a:t>USD 1,340 in materials solar; approximately USD 1,030 mains-powered.</a:t>
            </a:r>
          </a:p>
          <a:p>
            <a:pPr lvl="1"/>
            <a:r>
              <a:rPr sz="1350">
                <a:solidFill>
                  <a:srgbClr val="6B6A66"/>
                </a:solidFill>
              </a:rPr>
              <a:t>Materials only — excludes shipping, duty, labour, pole, civil works, survey.</a:t>
            </a:r>
          </a:p>
          <a:p>
            <a:pPr/>
            <a:r>
              <a:rPr sz="1500">
                <a:solidFill>
                  <a:srgbClr val="1A1A1A"/>
                </a:solidFill>
              </a:rPr>
              <a:t>Lowest-cost automatic water-level station on the INAPROC e-catalogue: approximately USD 3,600 ex-VAT, stage only.</a:t>
            </a:r>
          </a:p>
          <a:p>
            <a:pPr/>
            <a:r>
              <a:rPr sz="1500">
                <a:solidFill>
                  <a:srgbClr val="1A1A1A"/>
                </a:solidFill>
              </a:rPr>
              <a:t>Five constraints governed every part: commodity electronics, no soldering, no specialist skills, common tools, five-minute replacement.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Commodity parts, and no fabrication anywhere in the build</a:t>
            </a:r>
          </a:p>
        </p:txBody>
      </p:sp>
      <p:pic>
        <p:nvPicPr>
          <p:cNvPr id="3" name="Picture 2" descr="Components laid out on a workbench: enclosure mounting plate, two lengths of DIN rail, three fuse holders, the PoE camera, the rain gauge dome, a Raspberry Pi 5 with its GPIO terminal riser, a DC-DC converter, terminal blocks, a relay board, the LTE modem and its antenna."/>
          <p:cNvPicPr>
            <a:picLocks noChangeAspect="1"/>
          </p:cNvPicPr>
          <p:nvPr/>
        </p:nvPicPr>
        <p:blipFill>
          <a:blip r:embed="rId2"/>
          <a:stretch>
            <a:fillRect/>
          </a:stretch>
        </p:blipFill>
        <p:spPr>
          <a:xfrm>
            <a:off x="1498997" y="1155065"/>
            <a:ext cx="1894046" cy="2525395"/>
          </a:xfrm>
          <a:prstGeom prst="rect">
            <a:avLst/>
          </a:prstGeom>
        </p:spPr>
      </p:pic>
      <p:sp>
        <p:nvSpPr>
          <p:cNvPr id="4" name="TextBox 3"/>
          <p:cNvSpPr txBox="1"/>
          <p:nvPr/>
        </p:nvSpPr>
        <p:spPr>
          <a:xfrm>
            <a:off x="457200" y="3717036"/>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Pi 5 and PoE switch on the upper DIN rail, relays, terminal blocks and DC-DC converter on the lower rail, with a bench power supply alongside reading 12.08 volts."/>
          <p:cNvPicPr>
            <a:picLocks noChangeAspect="1"/>
          </p:cNvPicPr>
          <p:nvPr/>
        </p:nvPicPr>
        <p:blipFill>
          <a:blip r:embed="rId3"/>
          <a:stretch>
            <a:fillRect/>
          </a:stretch>
        </p:blipFill>
        <p:spPr>
          <a:xfrm>
            <a:off x="5750957" y="1155065"/>
            <a:ext cx="1894046" cy="2525395"/>
          </a:xfrm>
          <a:prstGeom prst="rect">
            <a:avLst/>
          </a:prstGeom>
        </p:spPr>
      </p:pic>
      <p:sp>
        <p:nvSpPr>
          <p:cNvPr id="6" name="TextBox 5"/>
          <p:cNvSpPr txBox="1"/>
          <p:nvPr/>
        </p:nvSpPr>
        <p:spPr>
          <a:xfrm>
            <a:off x="4709160" y="3717036"/>
            <a:ext cx="3977640" cy="457200"/>
          </a:xfrm>
          <a:prstGeom prst="rect">
            <a:avLst/>
          </a:prstGeom>
          <a:noFill/>
        </p:spPr>
        <p:txBody>
          <a:bodyPr wrap="square">
            <a:spAutoFit/>
          </a:bodyPr>
          <a:lstStyle/>
          <a:p>
            <a:pPr/>
            <a:r>
              <a:rPr sz="1000">
                <a:solidFill>
                  <a:srgbClr val="42413E"/>
                </a:solidFill>
              </a:rPr>
              <a:t>The same parts wired onto the plate, under bench power at 12.08 V.</a:t>
            </a:r>
          </a:p>
        </p:txBody>
      </p:sp>
      <p:sp>
        <p:nvSpPr>
          <p:cNvPr id="7" name="TextBox 6"/>
          <p:cNvSpPr txBox="1"/>
          <p:nvPr/>
        </p:nvSpPr>
        <p:spPr>
          <a:xfrm>
            <a:off x="457200" y="4137660"/>
            <a:ext cx="8229600" cy="274320"/>
          </a:xfrm>
          <a:prstGeom prst="rect">
            <a:avLst/>
          </a:prstGeom>
          <a:noFill/>
        </p:spPr>
        <p:txBody>
          <a:bodyPr wrap="square">
            <a:spAutoFit/>
          </a:bodyPr>
          <a:lstStyle/>
          <a:p>
            <a:pPr/>
            <a:r>
              <a:rPr sz="1000">
                <a:solidFill>
                  <a:srgbClr val="6B6A66"/>
                </a:solidFill>
              </a:rPr>
              <a:t>Every connection is a screw terminal, a plug or a header. That is what makes the design duplicable.</a:t>
            </a:r>
          </a:p>
        </p:txBody>
      </p:sp>
      <p:sp>
        <p:nvSpPr>
          <p:cNvPr id="8" name="TextBox 7"/>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How a measurement is made</a:t>
            </a:r>
          </a:p>
        </p:txBody>
      </p:sp>
      <p:pic>
        <p:nvPicPr>
          <p:cNvPr id="3" name="Picture 2" descr="Flow diagram. A camera on a pole at the river sends video to a station computer, which works out a water level and a discharge figure; both travel over LTE to a central server that keeps the record. Beneath the computer are the three things it depends on: a solar panel and battery, a scheduler that wakes it every 30 minutes, and a rain gauge that keeps recording while the station sleeps. A note records that 30 to 60 seconds of every wake is spent booting the camera before any video exists."/>
          <p:cNvPicPr>
            <a:picLocks noChangeAspect="1"/>
          </p:cNvPicPr>
          <p:nvPr/>
        </p:nvPicPr>
        <p:blipFill>
          <a:blip r:embed="rId2"/>
          <a:stretch>
            <a:fillRect/>
          </a:stretch>
        </p:blipFill>
        <p:spPr>
          <a:xfrm>
            <a:off x="680499" y="919607"/>
            <a:ext cx="7783002" cy="3492373"/>
          </a:xfrm>
          <a:prstGeom prst="rect">
            <a:avLst/>
          </a:prstGeom>
        </p:spPr>
      </p:pic>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base is narrow, and should be treated as such</a:t>
            </a:r>
          </a:p>
        </p:txBody>
      </p:sp>
      <p:sp>
        <p:nvSpPr>
          <p:cNvPr id="3" name="Text Placeholder 2"/>
          <p:cNvSpPr>
            <a:spLocks noGrp="1"/>
          </p:cNvSpPr>
          <p:nvPr>
            <p:ph type="body" idx="12" sz="quarter"/>
          </p:nvPr>
        </p:nvSpPr>
        <p:spPr/>
        <p:txBody>
          <a:bodyPr wrap="square"/>
          <a:lstStyle/>
          <a:p>
            <a:pPr/>
            <a:r>
              <a:rPr sz="1500">
                <a:solidFill>
                  <a:srgbClr val="1A1A1A"/>
                </a:solidFill>
              </a:rPr>
              <a:t>One deployed station, at Sukabumi, on one river.</a:t>
            </a:r>
          </a:p>
          <a:p>
            <a:pPr/>
            <a:r>
              <a:rPr sz="1500">
                <a:solidFill>
                  <a:srgbClr val="1A1A1A"/>
                </a:solidFill>
              </a:rPr>
              <a:t>Part of one season — 133.5 days, 16 April to 28 August 2026.</a:t>
            </a:r>
          </a:p>
          <a:p>
            <a:pPr/>
            <a:r>
              <a:rPr sz="1500">
                <a:solidFill>
                  <a:srgbClr val="1A1A1A"/>
                </a:solidFill>
              </a:rPr>
              <a:t>A second station was built but never deployed.</a:t>
            </a:r>
          </a:p>
          <a:p>
            <a:pPr/>
            <a:r>
              <a:rPr sz="1500">
                <a:solidFill>
                  <a:srgbClr val="1A1A1A"/>
                </a:solidFill>
              </a:rPr>
              <a:t>The calibration now running is a salvage calibration recovered from a failed survey.</a:t>
            </a:r>
          </a:p>
          <a:p>
            <a:pPr/>
            <a:r>
              <a:rPr sz="1500">
                <a:solidFill>
                  <a:srgbClr val="1A1A1A"/>
                </a:solidFill>
              </a:rPr>
              <a:t>Sukabumi is a technology pilot. Its value to date is what it has revealed about the design, not the measurements it produced.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the pilot requires of the design</a:t>
            </a:r>
          </a:p>
        </p:txBody>
      </p:sp>
      <p:sp>
        <p:nvSpPr>
          <p:cNvPr id="3" name="Content Placeholder 2"/>
          <p:cNvSpPr>
            <a:spLocks noGrp="1"/>
          </p:cNvSpPr>
          <p:nvPr>
            <p:ph idx="12" sz="quarter"/>
          </p:nvPr>
        </p:nvSpPr>
        <p:spPr/>
        <p:txBody>
          <a:bodyPr wrap="square"/>
          <a:lstStyle/>
          <a:p>
            <a:pPr/>
            <a:r>
              <a:rPr sz="1100">
                <a:solidFill>
                  <a:srgbClr val="6B6A66"/>
                </a:solidFill>
              </a:rPr>
              <a:t>Report §2</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properties of the technology constrain any duplicate unit</a:t>
            </a:r>
          </a:p>
        </p:txBody>
      </p:sp>
      <p:sp>
        <p:nvSpPr>
          <p:cNvPr id="3" name="Text Placeholder 2"/>
          <p:cNvSpPr>
            <a:spLocks noGrp="1"/>
          </p:cNvSpPr>
          <p:nvPr>
            <p:ph type="body" idx="12" sz="quarter"/>
          </p:nvPr>
        </p:nvSpPr>
        <p:spPr/>
        <p:txBody>
          <a:bodyPr wrap="square"/>
          <a:lstStyle/>
          <a:p>
            <a:pPr/>
            <a:r>
              <a:rPr sz="1500">
                <a:solidFill>
                  <a:srgbClr val="1A1A1A"/>
                </a:solidFill>
              </a:rPr>
              <a:t>Surface velocimetry depends on trackable features on the water surface.</a:t>
            </a:r>
          </a:p>
          <a:p>
            <a:pPr lvl="1"/>
            <a:r>
              <a:rPr sz="1350">
                <a:solidFill>
                  <a:srgbClr val="6B6A66"/>
                </a:solidFill>
              </a:rPr>
              <a:t>Performance follows surface state, not the camera. Not characterised at Sukabumi — measure it at the pilot sites.</a:t>
            </a:r>
          </a:p>
          <a:p>
            <a:pPr/>
            <a:r>
              <a:rPr sz="1500">
                <a:solidFill>
                  <a:srgbClr val="1A1A1A"/>
                </a:solidFill>
              </a:rPr>
              <a:t>The surveyed geometry is an input the processing chain cannot recover.</a:t>
            </a:r>
          </a:p>
          <a:p>
            <a:pPr lvl="1"/>
            <a:r>
              <a:rPr sz="1350">
                <a:solidFill>
                  <a:srgbClr val="6B6A66"/>
                </a:solidFill>
              </a:rPr>
              <a:t>Nothing in the video constrains the bed, so survey error passes straight through to the result.</a:t>
            </a:r>
          </a:p>
          <a:p>
            <a:pPr/>
            <a:r>
              <a:rPr sz="1500">
                <a:solidFill>
                  <a:srgbClr val="1A1A1A"/>
                </a:solidFill>
              </a:rPr>
              <a:t>Reporting cadence is a design parameter, separate from measurement quality.</a:t>
            </a:r>
          </a:p>
          <a:p>
            <a:pPr lvl="1"/>
            <a:r>
              <a:rPr sz="1350">
                <a:solidFill>
                  <a:srgbClr val="6B6A66"/>
                </a:solidFill>
              </a:rPr>
              <a:t>Set by the power architecture. Every wake pays a fixed 30–60 s camera boot.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Field record, April to August 2026</a:t>
            </a:r>
          </a:p>
        </p:txBody>
      </p:sp>
      <p:sp>
        <p:nvSpPr>
          <p:cNvPr id="3" name="Content Placeholder 2"/>
          <p:cNvSpPr>
            <a:spLocks noGrp="1"/>
          </p:cNvSpPr>
          <p:nvPr>
            <p:ph idx="12" sz="quarter"/>
          </p:nvPr>
        </p:nvSpPr>
        <p:spPr/>
        <p:txBody>
          <a:bodyPr wrap="square"/>
          <a:lstStyle/>
          <a:p>
            <a:pPr/>
            <a:r>
              <a:rPr sz="1100">
                <a:solidFill>
                  <a:srgbClr val="6B6A66"/>
                </a:solidFill>
              </a:rPr>
              <a:t>Report §4 — read as properties of the design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13 interruptions across 133.5 days. The distribution is the finding.</a:t>
            </a:r>
          </a:p>
        </p:txBody>
      </p:sp>
      <p:pic>
        <p:nvPicPr>
          <p:cNvPr id="3" name="Picture 2" descr="Two panels. The upper panel is a timeline of the 133.5-day observation window with each of the 13 interruptions drawn to its true length; nine coincide with maintenance mode and four do not. The lower panel places the same 13 on a logarithmic duration scale: nine fall under 24 hours, one at 38 hours, none at all between 2 and 5 days, and three at 5 days and over."/>
          <p:cNvPicPr>
            <a:picLocks noChangeAspect="1"/>
          </p:cNvPicPr>
          <p:nvPr/>
        </p:nvPicPr>
        <p:blipFill>
          <a:blip r:embed="rId2"/>
          <a:stretch>
            <a:fillRect/>
          </a:stretch>
        </p:blipFill>
        <p:spPr>
          <a:xfrm>
            <a:off x="1954010" y="919607"/>
            <a:ext cx="5235979" cy="3199765"/>
          </a:xfrm>
          <a:prstGeom prst="rect">
            <a:avLst/>
          </a:prstGeom>
        </p:spPr>
      </p:pic>
      <p:sp>
        <p:nvSpPr>
          <p:cNvPr id="4" name="TextBox 3"/>
          <p:cNvSpPr txBox="1"/>
          <p:nvPr/>
        </p:nvSpPr>
        <p:spPr>
          <a:xfrm>
            <a:off x="457200" y="4119372"/>
            <a:ext cx="8229600" cy="292608"/>
          </a:xfrm>
          <a:prstGeom prst="rect">
            <a:avLst/>
          </a:prstGeom>
          <a:noFill/>
        </p:spPr>
        <p:txBody>
          <a:bodyPr wrap="square">
            <a:spAutoFit/>
          </a:bodyPr>
          <a:lstStyle/>
          <a:p>
            <a:pPr/>
            <a:r>
              <a:rPr sz="1000">
                <a:solidFill>
                  <a:srgbClr val="6B6A66"/>
                </a:solidFill>
              </a:rPr>
              <a:t>Nine under a day, three at five days or more, and nothing in between.</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absent middle is the signature of a latch</a:t>
            </a:r>
          </a:p>
        </p:txBody>
      </p:sp>
      <p:sp>
        <p:nvSpPr>
          <p:cNvPr id="3" name="Text Placeholder 2"/>
          <p:cNvSpPr>
            <a:spLocks noGrp="1"/>
          </p:cNvSpPr>
          <p:nvPr>
            <p:ph type="body" idx="12" sz="quarter"/>
          </p:nvPr>
        </p:nvSpPr>
        <p:spPr/>
        <p:txBody>
          <a:bodyPr wrap="square"/>
          <a:lstStyle/>
          <a:p>
            <a:pPr/>
            <a:r>
              <a:rPr sz="1500">
                <a:solidFill>
                  <a:srgbClr val="1A1A1A"/>
                </a:solidFill>
              </a:rPr>
              <a:t>A missed wake leaves the scheduler's next-startup alarm in the past, and nothing re-arms it.</a:t>
            </a:r>
          </a:p>
          <a:p>
            <a:pPr/>
            <a:r>
              <a:rPr sz="1500">
                <a:solidFill>
                  <a:srgbClr val="1A1A1A"/>
                </a:solidFill>
              </a:rPr>
              <a:t>So the station either catches the next cycle within a day, or stops until something external restarts it. The three long ones ran 5.4, 7.3 and 9.3 days.</a:t>
            </a:r>
          </a:p>
          <a:p>
            <a:pPr/>
            <a:r>
              <a:rPr sz="1500">
                <a:solidFill>
                  <a:srgbClr val="1A1A1A"/>
                </a:solidFill>
              </a:rPr>
              <a:t>Two separable faults:</a:t>
            </a:r>
          </a:p>
          <a:p>
            <a:pPr lvl="1"/>
            <a:r>
              <a:rPr sz="1350">
                <a:solidFill>
                  <a:srgbClr val="6B6A66"/>
                </a:solidFill>
              </a:rPr>
              <a:t>The trigger — whatever kills the individual wake. A power sizing question.</a:t>
            </a:r>
          </a:p>
          <a:p>
            <a:pPr lvl="1"/>
            <a:r>
              <a:rPr sz="1350">
                <a:solidFill>
                  <a:srgbClr val="6B6A66"/>
                </a:solidFill>
              </a:rPr>
              <a:t>The latch — the failure to re-arm. A scheduler question.</a:t>
            </a:r>
          </a:p>
          <a:p>
            <a:pPr/>
            <a:r>
              <a:rPr sz="1500">
                <a:solidFill>
                  <a:srgbClr val="1A1A1A"/>
                </a:solidFill>
              </a:rPr>
              <a:t>Fixing the latch converts an open-ended interruption into a 30-minute one, whatever the trigger was. It is the cheaper half and the higher-value one.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Maintenance mode coincides with nine of the thirteen</a:t>
            </a:r>
          </a:p>
        </p:txBody>
      </p:sp>
      <p:sp>
        <p:nvSpPr>
          <p:cNvPr id="3" name="Text Placeholder 2"/>
          <p:cNvSpPr>
            <a:spLocks noGrp="1"/>
          </p:cNvSpPr>
          <p:nvPr>
            <p:ph type="body" idx="12" sz="quarter"/>
          </p:nvPr>
        </p:nvSpPr>
        <p:spPr/>
        <p:txBody>
          <a:bodyPr wrap="square"/>
          <a:lstStyle/>
          <a:p>
            <a:pPr/>
            <a:r>
              <a:rPr sz="1500">
                <a:solidFill>
                  <a:srgbClr val="1A1A1A"/>
                </a:solidFill>
              </a:rPr>
              <a:t>A remotely-set flag that suppresses capture and holds the processor awake for the full window — roughly 12× the energy of a normal wake, and no data.</a:t>
            </a:r>
          </a:p>
          <a:p>
            <a:pPr/>
            <a:r>
              <a:rPr sz="1500">
                <a:solidFill>
                  <a:srgbClr val="1A1A1A"/>
                </a:solidFill>
              </a:rPr>
              <a:t>Long-wake events: 1.59 per hour inside maintenance windows against 0.18 per hour outside. The nine include the two longest interruptions.</a:t>
            </a:r>
          </a:p>
          <a:p>
            <a:pPr/>
            <a:r>
              <a:rPr sz="1500">
                <a:solidFill>
                  <a:srgbClr val="1A1A1A"/>
                </a:solidFill>
              </a:rPr>
              <a:t>The design defect is that the mode has no expiry and no alarm.</a:t>
            </a:r>
          </a:p>
          <a:p>
            <a:pPr lvl="1"/>
            <a:r>
              <a:rPr sz="1350">
                <a:solidFill>
                  <a:srgbClr val="6B6A66"/>
                </a:solidFill>
              </a:rPr>
              <a:t>It persists until explicitly cleared, indicates nowhere that it is set, and its energy cost is invisible.</a:t>
            </a:r>
          </a:p>
          <a:p>
            <a:pPr/>
            <a:r>
              <a:rPr sz="1500">
                <a:solidFill>
                  <a:srgbClr val="1A1A1A"/>
                </a:solidFill>
              </a:rPr>
              <a:t>Four interruptions are not associated with the mode. Two remain unexplained.</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Nothing in the design reported any of it</a:t>
            </a:r>
          </a:p>
        </p:txBody>
      </p:sp>
      <p:sp>
        <p:nvSpPr>
          <p:cNvPr id="3" name="Text Placeholder 2"/>
          <p:cNvSpPr>
            <a:spLocks noGrp="1"/>
          </p:cNvSpPr>
          <p:nvPr>
            <p:ph type="body" idx="12" sz="quarter"/>
          </p:nvPr>
        </p:nvSpPr>
        <p:spPr/>
        <p:txBody>
          <a:bodyPr wrap="square"/>
          <a:lstStyle/>
          <a:p>
            <a:pPr/>
            <a:r>
              <a:rPr sz="1500">
                <a:solidFill>
                  <a:srgbClr val="1A1A1A"/>
                </a:solidFill>
              </a:rPr>
              <a:t>No mechanism existed by which an interruption could announce itself.</a:t>
            </a:r>
          </a:p>
          <a:p>
            <a:pPr/>
            <a:r>
              <a:rPr sz="1500">
                <a:solidFill>
                  <a:srgbClr val="1A1A1A"/>
                </a:solidFill>
              </a:rPr>
              <a:t>The record could only be reconstructed afterwards, by querying the database directly.</a:t>
            </a:r>
          </a:p>
          <a:p>
            <a:pPr/>
            <a:r>
              <a:rPr sz="1500">
                <a:solidFill>
                  <a:srgbClr val="1A1A1A"/>
                </a:solidFill>
              </a:rPr>
              <a:t>A fault the system does not report cannot be detected by monitoring it.</a:t>
            </a:r>
          </a:p>
          <a:p>
            <a:pPr/>
            <a:r>
              <a:rPr sz="1500">
                <a:solidFill>
                  <a:srgbClr val="1A1A1A"/>
                </a:solidFill>
              </a:rPr>
              <a:t>This is the common thread behind R4, R5 and R7, and it is the cheapest class of change in the whole set.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Optical water-level detection fails throughout daylight</a:t>
            </a:r>
          </a:p>
        </p:txBody>
      </p:sp>
      <p:pic>
        <p:nvPicPr>
          <p:cNvPr id="3" name="Picture 2" descr="Two panels from 200 sampled captures. The upper panel counts captures by hour of day, split into those that produced a water level and those rejected at the quality gate; every rejection falls between 06:00 and 19:00, with peaks mid-morning and mid-afternoon and a dip in the early afternoon. The lower panel shows the signal-to-noise ratio of all 200 captures against the gate of 2.0."/>
          <p:cNvPicPr>
            <a:picLocks noChangeAspect="1"/>
          </p:cNvPicPr>
          <p:nvPr/>
        </p:nvPicPr>
        <p:blipFill>
          <a:blip r:embed="rId2"/>
          <a:stretch>
            <a:fillRect/>
          </a:stretch>
        </p:blipFill>
        <p:spPr>
          <a:xfrm>
            <a:off x="2141010" y="919607"/>
            <a:ext cx="4861980" cy="3199765"/>
          </a:xfrm>
          <a:prstGeom prst="rect">
            <a:avLst/>
          </a:prstGeom>
        </p:spPr>
      </p:pic>
      <p:sp>
        <p:nvSpPr>
          <p:cNvPr id="4" name="TextBox 3"/>
          <p:cNvSpPr txBox="1"/>
          <p:nvPr/>
        </p:nvSpPr>
        <p:spPr>
          <a:xfrm>
            <a:off x="457200" y="4119372"/>
            <a:ext cx="8229600" cy="292608"/>
          </a:xfrm>
          <a:prstGeom prst="rect">
            <a:avLst/>
          </a:prstGeom>
          <a:noFill/>
        </p:spPr>
        <p:txBody>
          <a:bodyPr wrap="square">
            <a:spAutoFit/>
          </a:bodyPr>
          <a:lstStyle/>
          <a:p>
            <a:pPr/>
            <a:r>
              <a:rPr sz="1000">
                <a:solidFill>
                  <a:srgbClr val="6B6A66"/>
                </a:solidFill>
              </a:rPr>
              <a:t>The two peaks and the midday dip are the shape a sun-angle effect produces. A general brightness effect would not.</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Optical water-level detection fails throughout daylight</a:t>
            </a:r>
          </a:p>
        </p:txBody>
      </p:sp>
      <p:sp>
        <p:nvSpPr>
          <p:cNvPr id="3" name="Text Placeholder 2"/>
          <p:cNvSpPr>
            <a:spLocks noGrp="1"/>
          </p:cNvSpPr>
          <p:nvPr>
            <p:ph type="body" idx="12" sz="quarter"/>
          </p:nvPr>
        </p:nvSpPr>
        <p:spPr/>
        <p:txBody>
          <a:bodyPr wrap="square"/>
          <a:lstStyle/>
          <a:p>
            <a:pPr/>
            <a:r>
              <a:rPr sz="1500">
                <a:solidFill>
                  <a:srgbClr val="1A1A1A"/>
                </a:solidFill>
              </a:rPr>
              <a:t>Of 200 sampled captures, 8–14 July, every failure was rejected at the same quality gate.</a:t>
            </a:r>
          </a:p>
          <a:p>
            <a:pPr/>
            <a:r>
              <a:rPr sz="1500">
                <a:solidFill>
                  <a:srgbClr val="1A1A1A"/>
                </a:solidFill>
              </a:rPr>
              <a:t>Passing captures cluster at a signal-to-noise ratio of 3–5, failing ones at 1.3–1.8, with almost nothing between.</a:t>
            </a:r>
          </a:p>
          <a:p>
            <a:pPr lvl="1"/>
            <a:r>
              <a:rPr sz="1350">
                <a:solidFill>
                  <a:srgbClr val="6B6A66"/>
                </a:solidFill>
              </a:rPr>
              <a:t>The gate is separating good captures from bad. Lowering it would admit unreliable levels, not recover good ones.</a:t>
            </a:r>
          </a:p>
          <a:p>
            <a:pPr/>
            <a:r>
              <a:rPr sz="1500">
                <a:solidFill>
                  <a:srgbClr val="1A1A1A"/>
                </a:solidFill>
              </a:rPr>
              <a:t>Zero failures between 19:00 and 06:00 WIB. Within daylight, two peaks — mid-morning and mid-afternoon — with a dip at solar noon.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that costs, and what is not yet established</a:t>
            </a:r>
          </a:p>
        </p:txBody>
      </p:sp>
      <p:sp>
        <p:nvSpPr>
          <p:cNvPr id="3" name="Text Placeholder 2"/>
          <p:cNvSpPr>
            <a:spLocks noGrp="1"/>
          </p:cNvSpPr>
          <p:nvPr>
            <p:ph type="body" idx="12" sz="quarter"/>
          </p:nvPr>
        </p:nvSpPr>
        <p:spPr/>
        <p:txBody>
          <a:bodyPr wrap="square"/>
          <a:lstStyle/>
          <a:p>
            <a:pPr/>
            <a:r>
              <a:rPr sz="1500">
                <a:solidFill>
                  <a:srgbClr val="1A1A1A"/>
                </a:solidFill>
              </a:rPr>
              <a:t>Water-level estimation aborts the entire processing run, so each daytime failure costs the whole discharge measurement, not only the level.</a:t>
            </a:r>
          </a:p>
          <a:p>
            <a:pPr/>
            <a:r>
              <a:rPr sz="1500">
                <a:solidFill>
                  <a:srgbClr val="1A1A1A"/>
                </a:solidFill>
              </a:rPr>
              <a:t>The failure is measured and not in doubt.</a:t>
            </a:r>
          </a:p>
          <a:p>
            <a:pPr/>
            <a:r>
              <a:rPr sz="1500">
                <a:solidFill>
                  <a:srgbClr val="1A1A1A"/>
                </a:solidFill>
              </a:rPr>
              <a:t>Its cause is a well-supported hypothesis, not a settled result: specular sun glint, indicated by the midday dip. Visual confirmation is pending.</a:t>
            </a:r>
          </a:p>
          <a:p>
            <a:pPr/>
            <a:r>
              <a:rPr sz="1500">
                <a:solidFill>
                  <a:srgbClr val="1A1A1A"/>
                </a:solidFill>
              </a:rPr>
              <a:t>The recommendation depends only on the failure, not on the mechanism.</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Half of all captured video never reached the server</a:t>
            </a:r>
          </a:p>
        </p:txBody>
      </p:sp>
      <p:sp>
        <p:nvSpPr>
          <p:cNvPr id="3" name="Text Placeholder 2"/>
          <p:cNvSpPr>
            <a:spLocks noGrp="1"/>
          </p:cNvSpPr>
          <p:nvPr>
            <p:ph type="body" idx="12" sz="quarter"/>
          </p:nvPr>
        </p:nvSpPr>
        <p:spPr/>
        <p:txBody>
          <a:bodyPr wrap="square"/>
          <a:lstStyle/>
          <a:p>
            <a:pPr/>
            <a:r>
              <a:rPr sz="1500">
                <a:solidFill>
                  <a:srgbClr val="1A1A1A"/>
                </a:solidFill>
              </a:rPr>
              <a:t>Of 5,406 videos recorded 8 April to 27 August, 51% were never synchronised. Separately, 43% failed processing on the station.</a:t>
            </a:r>
          </a:p>
          <a:p>
            <a:pPr/>
            <a:r>
              <a:rPr sz="1500">
                <a:solidFill>
                  <a:srgbClr val="1A1A1A"/>
                </a:solidFill>
              </a:rPr>
              <a:t>The station disk sat pinned at its automatic purge threshold, so records were deleted before they could be retransmitted.</a:t>
            </a:r>
          </a:p>
          <a:p>
            <a:pPr/>
            <a:r>
              <a:rPr sz="1500">
                <a:solidFill>
                  <a:srgbClr val="1A1A1A"/>
                </a:solidFill>
              </a:rPr>
              <a:t>Nothing compared what was captured against what arrived, so this produced no symptom at either end.</a:t>
            </a:r>
          </a:p>
          <a:p>
            <a:pPr/>
            <a:r>
              <a:rPr sz="1500">
                <a:solidFill>
                  <a:srgbClr val="1A1A1A"/>
                </a:solidFill>
              </a:rPr>
              <a:t>Video and sensor data travel independent paths and fail independently. Neither confirms the other. Both have been observed here.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the cost ceiling bought</a:t>
            </a:r>
          </a:p>
        </p:txBody>
      </p:sp>
      <p:sp>
        <p:nvSpPr>
          <p:cNvPr id="3" name="Content Placeholder 2"/>
          <p:cNvSpPr>
            <a:spLocks noGrp="1"/>
          </p:cNvSpPr>
          <p:nvPr>
            <p:ph idx="12" sz="quarter"/>
          </p:nvPr>
        </p:nvSpPr>
        <p:spPr/>
        <p:txBody>
          <a:bodyPr wrap="square"/>
          <a:lstStyle/>
          <a:p>
            <a:pPr/>
            <a:r>
              <a:rPr sz="1100">
                <a:solidFill>
                  <a:srgbClr val="6B6A66"/>
                </a:solidFill>
              </a:rPr>
              <a:t>Report §3 — the method, not the part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camera met its specification. Three consequences followed.</a:t>
            </a:r>
          </a:p>
        </p:txBody>
      </p:sp>
      <p:sp>
        <p:nvSpPr>
          <p:cNvPr id="3" name="Text Placeholder 2"/>
          <p:cNvSpPr>
            <a:spLocks noGrp="1"/>
          </p:cNvSpPr>
          <p:nvPr>
            <p:ph type="body" idx="12" sz="quarter"/>
          </p:nvPr>
        </p:nvSpPr>
        <p:spPr>
          <a:xfrm>
            <a:off x="457200" y="1155065"/>
            <a:ext cx="4773168" cy="3256915"/>
          </a:xfrm>
        </p:spPr>
        <p:txBody>
          <a:bodyPr wrap="square"/>
          <a:lstStyle/>
          <a:p>
            <a:pPr/>
            <a:r>
              <a:rPr sz="1300">
                <a:solidFill>
                  <a:srgbClr val="1A1A1A"/>
                </a:solidFill>
              </a:rPr>
              <a:t>USD 60 per unit against a professional alternative at about USD 1,268.</a:t>
            </a:r>
          </a:p>
          <a:p>
            <a:pPr/>
            <a:r>
              <a:rPr sz="1300">
                <a:solidFill>
                  <a:srgbClr val="1A1A1A"/>
                </a:solidFill>
              </a:rPr>
              <a:t>Recorded video cannot be retrieved over HTTP, so capture falls back to a live stream.</a:t>
            </a:r>
          </a:p>
          <a:p>
            <a:pPr/>
            <a:r>
              <a:rPr sz="1300">
                <a:solidFill>
                  <a:srgbClr val="1A1A1A"/>
                </a:solidFill>
              </a:rPr>
              <a:t>A white light fires at full brightness on every power-on and cannot be disabled.</a:t>
            </a:r>
          </a:p>
          <a:p>
            <a:pPr/>
            <a:r>
              <a:rPr sz="1300">
                <a:solidFill>
                  <a:srgbClr val="1A1A1A"/>
                </a:solidFill>
              </a:rPr>
              <a:t>Boot time is fixed and paid on every wake — 30–60 s.</a:t>
            </a:r>
          </a:p>
          <a:p>
            <a:pPr/>
            <a:r>
              <a:rPr sz="1300">
                <a:solidFill>
                  <a:srgbClr val="1A1A1A"/>
                </a:solidFill>
              </a:rPr>
              <a:t>All three are properties of the rebranded firmware, not of the optics or the sensor.</a:t>
            </a:r>
          </a:p>
        </p:txBody>
      </p:sp>
      <p:pic>
        <p:nvPicPr>
          <p:cNvPr id="4" name="Picture 3" descr="The PoE camera as delivered, on a workbench mat with its mounting hardware, waterproof cable boot and printed user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The camera as delivered: capable hardware, a reseller's firmware.</a:t>
            </a:r>
          </a:p>
        </p:txBody>
      </p:sp>
      <p:sp>
        <p:nvSpPr>
          <p:cNvPr id="6" name="TextBox 5"/>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7" name="TextBox 6"/>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the firmware costs the capture path</a:t>
            </a:r>
          </a:p>
        </p:txBody>
      </p:sp>
      <p:pic>
        <p:nvPicPr>
          <p:cNvPr id="3" name="Picture 2" descr="Two paths compared. The intended path had the camera record to its own card at full bitrate and the station pull the finished file over Ethernet faster than real time; the single interface call that needs is absent from the rebranded firmware, so the path is blocked. The implemented path pulls a live stream instead, which carries 10 to 20 per cent transport overhead. A bar chart compares 20 Mbps recommended, 16 Mbps configured, and about 15.5 Mbps delivered."/>
          <p:cNvPicPr>
            <a:picLocks noChangeAspect="1"/>
          </p:cNvPicPr>
          <p:nvPr/>
        </p:nvPicPr>
        <p:blipFill>
          <a:blip r:embed="rId2"/>
          <a:stretch>
            <a:fillRect/>
          </a:stretch>
        </p:blipFill>
        <p:spPr>
          <a:xfrm>
            <a:off x="1528321" y="919607"/>
            <a:ext cx="6087357" cy="3199765"/>
          </a:xfrm>
          <a:prstGeom prst="rect">
            <a:avLst/>
          </a:prstGeom>
        </p:spPr>
      </p:pic>
      <p:sp>
        <p:nvSpPr>
          <p:cNvPr id="4" name="TextBox 3"/>
          <p:cNvSpPr txBox="1"/>
          <p:nvPr/>
        </p:nvSpPr>
        <p:spPr>
          <a:xfrm>
            <a:off x="457200" y="4119372"/>
            <a:ext cx="8229600" cy="292608"/>
          </a:xfrm>
          <a:prstGeom prst="rect">
            <a:avLst/>
          </a:prstGeom>
          <a:noFill/>
        </p:spPr>
        <p:txBody>
          <a:bodyPr wrap="square">
            <a:spAutoFit/>
          </a:bodyPr>
          <a:lstStyle/>
          <a:p>
            <a:pPr/>
            <a:r>
              <a:rPr sz="1000">
                <a:solidFill>
                  <a:srgbClr val="6B6A66"/>
                </a:solidFill>
              </a:rPr>
              <a:t>The hardware could do it. The firmware will not expose it.</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lesson is about method, not about the part</a:t>
            </a:r>
          </a:p>
        </p:txBody>
      </p:sp>
      <p:sp>
        <p:nvSpPr>
          <p:cNvPr id="3" name="Text Placeholder 2"/>
          <p:cNvSpPr>
            <a:spLocks noGrp="1"/>
          </p:cNvSpPr>
          <p:nvPr>
            <p:ph type="body" idx="12" sz="quarter"/>
          </p:nvPr>
        </p:nvSpPr>
        <p:spPr/>
        <p:txBody>
          <a:bodyPr wrap="square"/>
          <a:lstStyle/>
          <a:p>
            <a:pPr/>
            <a:r>
              <a:rPr sz="1500">
                <a:solidFill>
                  <a:srgbClr val="1A1A1A"/>
                </a:solidFill>
              </a:rPr>
              <a:t>The ceiling was applied component by component: for each function, the cheapest part meeting the stated requirement.</a:t>
            </a:r>
          </a:p>
          <a:p>
            <a:pPr/>
            <a:r>
              <a:rPr sz="1500">
                <a:solidFill>
                  <a:srgbClr val="1A1A1A"/>
                </a:solidFill>
              </a:rPr>
              <a:t>That is defensible, and it produced a working station at USD 1,340.</a:t>
            </a:r>
          </a:p>
          <a:p>
            <a:pPr/>
            <a:r>
              <a:rPr sz="1500">
                <a:solidFill>
                  <a:srgbClr val="1A1A1A"/>
                </a:solidFill>
              </a:rPr>
              <a:t>It has one failure mode, which this deployment demonstrated: it prices each component against its datasheet, and not against what that component's limitations cost the rest of the system.</a:t>
            </a:r>
          </a:p>
          <a:p>
            <a:pPr/>
            <a:r>
              <a:rPr sz="1500">
                <a:solidFill>
                  <a:srgbClr val="1A1A1A"/>
                </a:solidFill>
              </a:rPr>
              <a:t>Keep the per-station ceiling — it is what makes network density achievable. Apply it to the station rather than to each part in isolation.</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Recommendations for the pilot units</a:t>
            </a:r>
          </a:p>
        </p:txBody>
      </p:sp>
      <p:sp>
        <p:nvSpPr>
          <p:cNvPr id="3" name="Content Placeholder 2"/>
          <p:cNvSpPr>
            <a:spLocks noGrp="1"/>
          </p:cNvSpPr>
          <p:nvPr>
            <p:ph idx="12" sz="quarter"/>
          </p:nvPr>
        </p:nvSpPr>
        <p:spPr/>
        <p:txBody>
          <a:bodyPr wrap="square"/>
          <a:lstStyle/>
          <a:p>
            <a:pPr/>
            <a:r>
              <a:rPr sz="1100">
                <a:solidFill>
                  <a:srgbClr val="6B6A66"/>
                </a:solidFill>
              </a:rPr>
              <a:t>Report §5 — eleven, ordered by effect on reliability and data quality</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R1–R6</a:t>
            </a:r>
          </a:p>
        </p:txBody>
      </p:sp>
      <p:graphicFrame>
        <p:nvGraphicFramePr>
          <p:cNvPr id="3" name="Table 2"/>
          <p:cNvGraphicFramePr>
            <a:graphicFrameLocks noGrp="1"/>
          </p:cNvGraphicFramePr>
          <p:nvPr/>
        </p:nvGraphicFramePr>
        <p:xfrm>
          <a:off x="457200" y="1155065"/>
          <a:ext cx="8229600" cy="2176272"/>
        </p:xfrm>
        <a:graphic>
          <a:graphicData uri="http://schemas.openxmlformats.org/drawingml/2006/table">
            <a:tbl>
              <a:tblPr firstRow="1" bandRow="1">
                <a:tableStyleId>{5C22544A-7EE6-4342-B048-85BDC9FD1C3A}</a:tableStyleId>
              </a:tblPr>
              <a:tblGrid>
                <a:gridCol w="457200"/>
                <a:gridCol w="3886200"/>
                <a:gridCol w="3886200"/>
              </a:tblGrid>
              <a:tr h="310896">
                <a:tc>
                  <a:txBody>
                    <a:bodyPr/>
                    <a:lstStyle/>
                    <a:p>
                      <a:r>
                        <a:rPr sz="1000" b="1">
                          <a:solidFill>
                            <a:srgbClr val="1A1A1A"/>
                          </a:solidFill>
                        </a:rPr>
                        <a:t>#</a:t>
                      </a:r>
                    </a:p>
                  </a:txBody>
                  <a:tcPr marT="27432" marB="27432"/>
                </a:tc>
                <a:tc>
                  <a:txBody>
                    <a:bodyPr/>
                    <a:lstStyle/>
                    <a:p>
                      <a:r>
                        <a:rPr sz="1000" b="1">
                          <a:solidFill>
                            <a:srgbClr val="1A1A1A"/>
                          </a:solidFill>
                        </a:rPr>
                        <a:t>Recommendation</a:t>
                      </a:r>
                    </a:p>
                  </a:txBody>
                  <a:tcPr marT="27432" marB="27432"/>
                </a:tc>
                <a:tc>
                  <a:txBody>
                    <a:bodyPr/>
                    <a:lstStyle/>
                    <a:p>
                      <a:r>
                        <a:rPr sz="1000" b="1">
                          <a:solidFill>
                            <a:srgbClr val="1A1A1A"/>
                          </a:solidFill>
                        </a:rPr>
                        <a:t>Cost of adoption</a:t>
                      </a:r>
                    </a:p>
                  </a:txBody>
                  <a:tcPr marT="27432" marB="27432"/>
                </a:tc>
              </a:tr>
              <a:tr h="310896">
                <a:tc>
                  <a:txBody>
                    <a:bodyPr/>
                    <a:lstStyle/>
                    <a:p>
                      <a:r>
                        <a:rPr sz="900" b="0">
                          <a:solidFill>
                            <a:srgbClr val="1A1A1A"/>
                          </a:solidFill>
                        </a:rPr>
                        <a:t>R1</a:t>
                      </a:r>
                    </a:p>
                  </a:txBody>
                  <a:tcPr marT="27432" marB="27432"/>
                </a:tc>
                <a:tc>
                  <a:txBody>
                    <a:bodyPr/>
                    <a:lstStyle/>
                    <a:p>
                      <a:r>
                        <a:rPr sz="900" b="0">
                          <a:solidFill>
                            <a:srgbClr val="1A1A1A"/>
                          </a:solidFill>
                        </a:rPr>
                        <a:t>Fit an independent water-level reference</a:t>
                      </a:r>
                    </a:p>
                  </a:txBody>
                  <a:tcPr marT="27432" marB="27432"/>
                </a:tc>
                <a:tc>
                  <a:txBody>
                    <a:bodyPr/>
                    <a:lstStyle/>
                    <a:p>
                      <a:r>
                        <a:rPr sz="900" b="0">
                          <a:solidFill>
                            <a:srgbClr val="1A1A1A"/>
                          </a:solidFill>
                        </a:rPr>
                        <a:t>Level sensor, or a staff gauge in view</a:t>
                      </a:r>
                    </a:p>
                  </a:txBody>
                  <a:tcPr marT="27432" marB="27432"/>
                </a:tc>
              </a:tr>
              <a:tr h="310896">
                <a:tc>
                  <a:txBody>
                    <a:bodyPr/>
                    <a:lstStyle/>
                    <a:p>
                      <a:r>
                        <a:rPr sz="900" b="0">
                          <a:solidFill>
                            <a:srgbClr val="1A1A1A"/>
                          </a:solidFill>
                        </a:rPr>
                        <a:t>R2</a:t>
                      </a:r>
                    </a:p>
                  </a:txBody>
                  <a:tcPr marT="27432" marB="27432"/>
                </a:tc>
                <a:tc>
                  <a:txBody>
                    <a:bodyPr/>
                    <a:lstStyle/>
                    <a:p>
                      <a:r>
                        <a:rPr sz="900" b="0">
                          <a:solidFill>
                            <a:srgbClr val="1A1A1A"/>
                          </a:solidFill>
                        </a:rPr>
                        <a:t>Commission a professional survey before installation</a:t>
                      </a:r>
                    </a:p>
                  </a:txBody>
                  <a:tcPr marT="27432" marB="27432"/>
                </a:tc>
                <a:tc>
                  <a:txBody>
                    <a:bodyPr/>
                    <a:lstStyle/>
                    <a:p>
                      <a:r>
                        <a:rPr sz="900" b="0">
                          <a:solidFill>
                            <a:srgbClr val="1A1A1A"/>
                          </a:solidFill>
                        </a:rPr>
                        <a:t>Rp 5–15 million per site</a:t>
                      </a:r>
                    </a:p>
                  </a:txBody>
                  <a:tcPr marT="27432" marB="27432"/>
                </a:tc>
              </a:tr>
              <a:tr h="310896">
                <a:tc>
                  <a:txBody>
                    <a:bodyPr/>
                    <a:lstStyle/>
                    <a:p>
                      <a:r>
                        <a:rPr sz="900" b="0">
                          <a:solidFill>
                            <a:srgbClr val="1A1A1A"/>
                          </a:solidFill>
                        </a:rPr>
                        <a:t>R3</a:t>
                      </a:r>
                    </a:p>
                  </a:txBody>
                  <a:tcPr marT="27432" marB="27432"/>
                </a:tc>
                <a:tc>
                  <a:txBody>
                    <a:bodyPr/>
                    <a:lstStyle/>
                    <a:p>
                      <a:r>
                        <a:rPr sz="900" b="0">
                          <a:solidFill>
                            <a:srgbClr val="1A1A1A"/>
                          </a:solidFill>
                        </a:rPr>
                        <a:t>Build to interfaces, not to part numbers</a:t>
                      </a:r>
                    </a:p>
                  </a:txBody>
                  <a:tcPr marT="27432" marB="27432"/>
                </a:tc>
                <a:tc>
                  <a:txBody>
                    <a:bodyPr/>
                    <a:lstStyle/>
                    <a:p>
                      <a:r>
                        <a:rPr sz="900" b="0">
                          <a:solidFill>
                            <a:srgbClr val="1A1A1A"/>
                          </a:solidFill>
                        </a:rPr>
                        <a:t>Documentation only</a:t>
                      </a:r>
                    </a:p>
                  </a:txBody>
                  <a:tcPr marT="27432" marB="27432"/>
                </a:tc>
              </a:tr>
              <a:tr h="310896">
                <a:tc>
                  <a:txBody>
                    <a:bodyPr/>
                    <a:lstStyle/>
                    <a:p>
                      <a:r>
                        <a:rPr sz="900" b="0">
                          <a:solidFill>
                            <a:srgbClr val="1A1A1A"/>
                          </a:solidFill>
                        </a:rPr>
                        <a:t>R4</a:t>
                      </a:r>
                    </a:p>
                  </a:txBody>
                  <a:tcPr marT="27432" marB="27432"/>
                </a:tc>
                <a:tc>
                  <a:txBody>
                    <a:bodyPr/>
                    <a:lstStyle/>
                    <a:p>
                      <a:r>
                        <a:rPr sz="900" b="0">
                          <a:solidFill>
                            <a:srgbClr val="1A1A1A"/>
                          </a:solidFill>
                        </a:rPr>
                        <a:t>Health telemetry and mode alarms as functional requirements</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R5</a:t>
                      </a:r>
                    </a:p>
                  </a:txBody>
                  <a:tcPr marT="27432" marB="27432"/>
                </a:tc>
                <a:tc>
                  <a:txBody>
                    <a:bodyPr/>
                    <a:lstStyle/>
                    <a:p>
                      <a:r>
                        <a:rPr sz="900" b="0">
                          <a:solidFill>
                            <a:srgbClr val="1A1A1A"/>
                          </a:solidFill>
                        </a:rPr>
                        <a:t>Push diagnostics rather than requiring a login</a:t>
                      </a:r>
                    </a:p>
                  </a:txBody>
                  <a:tcPr marT="27432" marB="27432"/>
                </a:tc>
                <a:tc>
                  <a:txBody>
                    <a:bodyPr/>
                    <a:lstStyle/>
                    <a:p>
                      <a:r>
                        <a:rPr sz="900" b="0">
                          <a:solidFill>
                            <a:srgbClr val="1A1A1A"/>
                          </a:solidFill>
                        </a:rPr>
                        <a:t>Small</a:t>
                      </a:r>
                    </a:p>
                  </a:txBody>
                  <a:tcPr marT="27432" marB="27432"/>
                </a:tc>
              </a:tr>
              <a:tr h="310896">
                <a:tc>
                  <a:txBody>
                    <a:bodyPr/>
                    <a:lstStyle/>
                    <a:p>
                      <a:r>
                        <a:rPr sz="900" b="0">
                          <a:solidFill>
                            <a:srgbClr val="1A1A1A"/>
                          </a:solidFill>
                        </a:rPr>
                        <a:t>R6</a:t>
                      </a:r>
                    </a:p>
                  </a:txBody>
                  <a:tcPr marT="27432" marB="27432"/>
                </a:tc>
                <a:tc>
                  <a:txBody>
                    <a:bodyPr/>
                    <a:lstStyle/>
                    <a:p>
                      <a:r>
                        <a:rPr sz="900" b="0">
                          <a:solidFill>
                            <a:srgbClr val="1A1A1A"/>
                          </a:solidFill>
                        </a:rPr>
                        <a:t>Instrument power; record voltage and current as pairs</a:t>
                      </a:r>
                    </a:p>
                  </a:txBody>
                  <a:tcPr marT="27432" marB="27432"/>
                </a:tc>
                <a:tc>
                  <a:txBody>
                    <a:bodyPr/>
                    <a:lstStyle/>
                    <a:p>
                      <a:r>
                        <a:rPr sz="900" b="0">
                          <a:solidFill>
                            <a:srgbClr val="1A1A1A"/>
                          </a:solidFill>
                        </a:rPr>
                        <a:t>Current-sense module and logging</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R7–R11</a:t>
            </a:r>
          </a:p>
        </p:txBody>
      </p:sp>
      <p:graphicFrame>
        <p:nvGraphicFramePr>
          <p:cNvPr id="3" name="Table 2"/>
          <p:cNvGraphicFramePr>
            <a:graphicFrameLocks noGrp="1"/>
          </p:cNvGraphicFramePr>
          <p:nvPr/>
        </p:nvGraphicFramePr>
        <p:xfrm>
          <a:off x="457200" y="1155065"/>
          <a:ext cx="8229600" cy="1865376"/>
        </p:xfrm>
        <a:graphic>
          <a:graphicData uri="http://schemas.openxmlformats.org/drawingml/2006/table">
            <a:tbl>
              <a:tblPr firstRow="1" bandRow="1">
                <a:tableStyleId>{5C22544A-7EE6-4342-B048-85BDC9FD1C3A}</a:tableStyleId>
              </a:tblPr>
              <a:tblGrid>
                <a:gridCol w="457200"/>
                <a:gridCol w="3886200"/>
                <a:gridCol w="3886200"/>
              </a:tblGrid>
              <a:tr h="310896">
                <a:tc>
                  <a:txBody>
                    <a:bodyPr/>
                    <a:lstStyle/>
                    <a:p>
                      <a:r>
                        <a:rPr sz="1000" b="1">
                          <a:solidFill>
                            <a:srgbClr val="1A1A1A"/>
                          </a:solidFill>
                        </a:rPr>
                        <a:t>#</a:t>
                      </a:r>
                    </a:p>
                  </a:txBody>
                  <a:tcPr marT="27432" marB="27432"/>
                </a:tc>
                <a:tc>
                  <a:txBody>
                    <a:bodyPr/>
                    <a:lstStyle/>
                    <a:p>
                      <a:r>
                        <a:rPr sz="1000" b="1">
                          <a:solidFill>
                            <a:srgbClr val="1A1A1A"/>
                          </a:solidFill>
                        </a:rPr>
                        <a:t>Recommendation</a:t>
                      </a:r>
                    </a:p>
                  </a:txBody>
                  <a:tcPr marT="27432" marB="27432"/>
                </a:tc>
                <a:tc>
                  <a:txBody>
                    <a:bodyPr/>
                    <a:lstStyle/>
                    <a:p>
                      <a:r>
                        <a:rPr sz="1000" b="1">
                          <a:solidFill>
                            <a:srgbClr val="1A1A1A"/>
                          </a:solidFill>
                        </a:rPr>
                        <a:t>Cost of adoption</a:t>
                      </a:r>
                    </a:p>
                  </a:txBody>
                  <a:tcPr marT="27432" marB="27432"/>
                </a:tc>
              </a:tr>
              <a:tr h="310896">
                <a:tc>
                  <a:txBody>
                    <a:bodyPr/>
                    <a:lstStyle/>
                    <a:p>
                      <a:r>
                        <a:rPr sz="900" b="0">
                          <a:solidFill>
                            <a:srgbClr val="1A1A1A"/>
                          </a:solidFill>
                        </a:rPr>
                        <a:t>R7</a:t>
                      </a:r>
                    </a:p>
                  </a:txBody>
                  <a:tcPr marT="27432" marB="27432"/>
                </a:tc>
                <a:tc>
                  <a:txBody>
                    <a:bodyPr/>
                    <a:lstStyle/>
                    <a:p>
                      <a:r>
                        <a:rPr sz="900" b="0">
                          <a:solidFill>
                            <a:srgbClr val="1A1A1A"/>
                          </a:solidFill>
                        </a:rPr>
                        <a:t>Reconcile captured against received data automatically</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R8</a:t>
                      </a:r>
                    </a:p>
                  </a:txBody>
                  <a:tcPr marT="27432" marB="27432"/>
                </a:tc>
                <a:tc>
                  <a:txBody>
                    <a:bodyPr/>
                    <a:lstStyle/>
                    <a:p>
                      <a:r>
                        <a:rPr sz="900" b="0">
                          <a:solidFill>
                            <a:srgbClr val="1A1A1A"/>
                          </a:solidFill>
                        </a:rPr>
                        <a:t>Consider indoor compute for the pilot units</a:t>
                      </a:r>
                    </a:p>
                  </a:txBody>
                  <a:tcPr marT="27432" marB="27432"/>
                </a:tc>
                <a:tc>
                  <a:txBody>
                    <a:bodyPr/>
                    <a:lstStyle/>
                    <a:p>
                      <a:r>
                        <a:rPr sz="900" b="0">
                          <a:solidFill>
                            <a:srgbClr val="1A1A1A"/>
                          </a:solidFill>
                        </a:rPr>
                        <a:t>Designed, not yet field tested</a:t>
                      </a:r>
                    </a:p>
                  </a:txBody>
                  <a:tcPr marT="27432" marB="27432"/>
                </a:tc>
              </a:tr>
              <a:tr h="310896">
                <a:tc>
                  <a:txBody>
                    <a:bodyPr/>
                    <a:lstStyle/>
                    <a:p>
                      <a:r>
                        <a:rPr sz="900" b="0">
                          <a:solidFill>
                            <a:srgbClr val="1A1A1A"/>
                          </a:solidFill>
                        </a:rPr>
                        <a:t>R9</a:t>
                      </a:r>
                    </a:p>
                  </a:txBody>
                  <a:tcPr marT="27432" marB="27432"/>
                </a:tc>
                <a:tc>
                  <a:txBody>
                    <a:bodyPr/>
                    <a:lstStyle/>
                    <a:p>
                      <a:r>
                        <a:rPr sz="900" b="0">
                          <a:solidFill>
                            <a:srgbClr val="1A1A1A"/>
                          </a:solidFill>
                        </a:rPr>
                        <a:t>Budget per station; check the control interface before buying</a:t>
                      </a:r>
                    </a:p>
                  </a:txBody>
                  <a:tcPr marT="27432" marB="27432"/>
                </a:tc>
                <a:tc>
                  <a:txBody>
                    <a:bodyPr/>
                    <a:lstStyle/>
                    <a:p>
                      <a:r>
                        <a:rPr sz="900" b="0">
                          <a:solidFill>
                            <a:srgbClr val="1A1A1A"/>
                          </a:solidFill>
                        </a:rPr>
                        <a:t>Screening effort; higher per-camera price</a:t>
                      </a:r>
                    </a:p>
                  </a:txBody>
                  <a:tcPr marT="27432" marB="27432"/>
                </a:tc>
              </a:tr>
              <a:tr h="310896">
                <a:tc>
                  <a:txBody>
                    <a:bodyPr/>
                    <a:lstStyle/>
                    <a:p>
                      <a:r>
                        <a:rPr sz="900" b="0">
                          <a:solidFill>
                            <a:srgbClr val="1A1A1A"/>
                          </a:solidFill>
                        </a:rPr>
                        <a:t>R10</a:t>
                      </a:r>
                    </a:p>
                  </a:txBody>
                  <a:tcPr marT="27432" marB="27432"/>
                </a:tc>
                <a:tc>
                  <a:txBody>
                    <a:bodyPr/>
                    <a:lstStyle/>
                    <a:p>
                      <a:r>
                        <a:rPr sz="900" b="0">
                          <a:solidFill>
                            <a:srgbClr val="1A1A1A"/>
                          </a:solidFill>
                        </a:rPr>
                        <a:t>Use the native RTC instead of an external scheduling board</a:t>
                      </a:r>
                    </a:p>
                  </a:txBody>
                  <a:tcPr marT="27432" marB="27432"/>
                </a:tc>
                <a:tc>
                  <a:txBody>
                    <a:bodyPr/>
                    <a:lstStyle/>
                    <a:p>
                      <a:r>
                        <a:rPr sz="900" b="0">
                          <a:solidFill>
                            <a:srgbClr val="1A1A1A"/>
                          </a:solidFill>
                        </a:rPr>
                        <a:t>Saves ~USD 50/station; keep the board on solar</a:t>
                      </a:r>
                    </a:p>
                  </a:txBody>
                  <a:tcPr marT="27432" marB="27432"/>
                </a:tc>
              </a:tr>
              <a:tr h="310896">
                <a:tc>
                  <a:txBody>
                    <a:bodyPr/>
                    <a:lstStyle/>
                    <a:p>
                      <a:r>
                        <a:rPr sz="900" b="0">
                          <a:solidFill>
                            <a:srgbClr val="1A1A1A"/>
                          </a:solidFill>
                        </a:rPr>
                        <a:t>R11</a:t>
                      </a:r>
                    </a:p>
                  </a:txBody>
                  <a:tcPr marT="27432" marB="27432"/>
                </a:tc>
                <a:tc>
                  <a:txBody>
                    <a:bodyPr/>
                    <a:lstStyle/>
                    <a:p>
                      <a:r>
                        <a:rPr sz="900" b="0">
                          <a:solidFill>
                            <a:srgbClr val="1A1A1A"/>
                          </a:solidFill>
                        </a:rPr>
                        <a:t>Where real-time monitoring is required, build always-on and mains-powered</a:t>
                      </a:r>
                    </a:p>
                  </a:txBody>
                  <a:tcPr marT="27432" marB="27432"/>
                </a:tc>
                <a:tc>
                  <a:txBody>
                    <a:bodyPr/>
                    <a:lstStyle/>
                    <a:p>
                      <a:r>
                        <a:rPr sz="900" b="0">
                          <a:solidFill>
                            <a:srgbClr val="1A1A1A"/>
                          </a:solidFill>
                        </a:rPr>
                        <a:t>Cheaper — ~USD 1,030 against 1,340</a:t>
                      </a:r>
                    </a:p>
                  </a:txBody>
                  <a:tcPr marT="27432" marB="27432"/>
                </a:tc>
              </a:tr>
            </a:tbl>
          </a:graphicData>
        </a:graphic>
      </p:graphicFrame>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R8 — camera at the river, computer indoors</a:t>
            </a:r>
          </a:p>
        </p:txBody>
      </p:sp>
      <p:pic>
        <p:nvPicPr>
          <p:cNvPr id="3" name="Picture 2" descr="Side-by-side comparison. On the left, the configuration as built: camera, computer, modem and power system all sit in an enclosure at the riverbank, so all of it is in the weather and service means opening the enclosure on site. On the right, the configuration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819261" y="919607"/>
            <a:ext cx="5505478" cy="3199765"/>
          </a:xfrm>
          <a:prstGeom prst="rect">
            <a:avLst/>
          </a:prstGeom>
        </p:spPr>
      </p:pic>
      <p:sp>
        <p:nvSpPr>
          <p:cNvPr id="4" name="TextBox 3"/>
          <p:cNvSpPr txBox="1"/>
          <p:nvPr/>
        </p:nvSpPr>
        <p:spPr>
          <a:xfrm>
            <a:off x="457200" y="4119372"/>
            <a:ext cx="8229600" cy="292608"/>
          </a:xfrm>
          <a:prstGeom prst="rect">
            <a:avLst/>
          </a:prstGeom>
          <a:noFill/>
        </p:spPr>
        <p:txBody>
          <a:bodyPr wrap="square">
            <a:spAutoFit/>
          </a:bodyPr>
          <a:lstStyle/>
          <a:p>
            <a:pPr/>
            <a:r>
              <a:rPr sz="1000">
                <a:solidFill>
                  <a:srgbClr val="6B6A66"/>
                </a:solidFill>
              </a:rPr>
              <a:t>Designed, not yet field tested. It is offered as the pilot's first experiment.</a:t>
            </a:r>
          </a:p>
        </p:txBody>
      </p:sp>
      <p:sp>
        <p:nvSpPr>
          <p:cNvPr id="5" name="TextBox 4"/>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6" name="TextBox 5"/>
          <p:cNvSpPr txBox="1"/>
          <p:nvPr/>
        </p:nvSpPr>
        <p:spPr>
          <a:xfrm>
            <a:off x="6553200" y="4667250"/>
            <a:ext cx="2133600" cy="274638"/>
          </a:xfrm>
          <a:prstGeom prst="rect">
            <a:avLst/>
          </a:prstGeom>
          <a:noFill/>
        </p:spPr>
        <p:txBody>
          <a:bodyPr wrap="square">
            <a:spAutoFit/>
          </a:bodyPr>
          <a:lstStyle/>
          <a:p>
            <a:pPr algn="r"/>
            <a:r>
              <a:rPr sz="800">
                <a:solidFill>
                  <a:srgbClr val="6B6A66"/>
                </a:solidFill>
              </a:rP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four with the greatest effect</a:t>
            </a:r>
          </a:p>
        </p:txBody>
      </p:sp>
      <p:sp>
        <p:nvSpPr>
          <p:cNvPr id="3" name="Text Placeholder 2"/>
          <p:cNvSpPr>
            <a:spLocks noGrp="1"/>
          </p:cNvSpPr>
          <p:nvPr>
            <p:ph type="body" idx="12" sz="quarter"/>
          </p:nvPr>
        </p:nvSpPr>
        <p:spPr/>
        <p:txBody>
          <a:bodyPr wrap="square"/>
          <a:lstStyle/>
          <a:p>
            <a:pPr/>
            <a:r>
              <a:rPr sz="1500">
                <a:solidFill>
                  <a:srgbClr val="1A1A1A"/>
                </a:solidFill>
              </a:rPr>
              <a:t>R1 — without an independent water-level reference the station measures reliably only at night, and the same block of hours is missing every day.</a:t>
            </a:r>
          </a:p>
          <a:p>
            <a:pPr/>
            <a:r>
              <a:rPr sz="1500">
                <a:solidFill>
                  <a:srgbClr val="1A1A1A"/>
                </a:solidFill>
              </a:rPr>
              <a:t>R2 — two RTK surveys, consecutive days, same equipment and crew, reproduced spreads of ~99 cm horizontal and ~139 cm vertical. Roughly 30× tolerance.</a:t>
            </a:r>
          </a:p>
          <a:p>
            <a:pPr/>
            <a:r>
              <a:rPr sz="1500">
                <a:solidFill>
                  <a:srgbClr val="1A1A1A"/>
                </a:solidFill>
              </a:rPr>
              <a:t>R3 — BHLK will source in Indonesia under Indonesian procurement rules, so substitution is the expected case, not a risk to be managed.</a:t>
            </a:r>
          </a:p>
          <a:p>
            <a:pPr/>
            <a:r>
              <a:rPr sz="1500">
                <a:solidFill>
                  <a:srgbClr val="1A1A1A"/>
                </a:solidFill>
              </a:rPr>
              <a:t>R11 — the duty cycle is the common cause behind much of the field record, and the always-on configuration is the cheaper of the two.</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Data hosting</a:t>
            </a:r>
          </a:p>
        </p:txBody>
      </p:sp>
      <p:sp>
        <p:nvSpPr>
          <p:cNvPr id="3" name="Text Placeholder 2"/>
          <p:cNvSpPr>
            <a:spLocks noGrp="1"/>
          </p:cNvSpPr>
          <p:nvPr>
            <p:ph type="body" idx="12" sz="quarter"/>
          </p:nvPr>
        </p:nvSpPr>
        <p:spPr/>
        <p:txBody>
          <a:bodyPr wrap="square"/>
          <a:lstStyle/>
          <a:p>
            <a:pPr/>
            <a:r>
              <a:rPr sz="1400">
                <a:solidFill>
                  <a:srgbClr val="1A1A1A"/>
                </a:solidFill>
              </a:rPr>
              <a:t>The server is a containerised deployment, straightforward to stand up on BHLK infrastructure.</a:t>
            </a:r>
          </a:p>
          <a:p>
            <a:pPr/>
            <a:r>
              <a:rPr sz="1400">
                <a:solidFill>
                  <a:srgbClr val="1A1A1A"/>
                </a:solidFill>
              </a:rPr>
              <a:t>Two constraints established in practice, to design for rather than discover:</a:t>
            </a:r>
          </a:p>
          <a:p>
            <a:pPr lvl="1"/>
            <a:r>
              <a:rPr sz="1250">
                <a:solidFill>
                  <a:srgbClr val="6B6A66"/>
                </a:solidFill>
              </a:rPr>
              <a:t>Video storage and the database must share a filesystem. Plan them as one volume.</a:t>
            </a:r>
          </a:p>
          <a:p>
            <a:pPr lvl="1"/>
            <a:r>
              <a:rPr sz="1250">
                <a:solidFill>
                  <a:srgbClr val="6B6A66"/>
                </a:solidFill>
              </a:rPr>
              <a:t>Server and station software versions are coupled. A duty-cycled remote station cannot be upgraded on demand.</a:t>
            </a:r>
          </a:p>
          <a:p>
            <a:pPr/>
            <a:r>
              <a:rPr sz="1400">
                <a:solidFill>
                  <a:srgbClr val="1A1A1A"/>
                </a:solidFill>
              </a:rPr>
              <a:t>We would propose mirroring in parallel until the BHLK instance has completed a full operating cycle, including an upgrade.</a:t>
            </a:r>
          </a:p>
          <a:p>
            <a:pPr/>
            <a:r>
              <a:rPr sz="1400">
                <a:solidFill>
                  <a:srgbClr val="1A1A1A"/>
                </a:solidFill>
              </a:rPr>
              <a:t>Worth agreeing in writing: where the authoritative copy sits, who administers it, who has access, retention and backup.</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Site selection</a:t>
            </a:r>
          </a:p>
        </p:txBody>
      </p:sp>
      <p:sp>
        <p:nvSpPr>
          <p:cNvPr id="3" name="Text Placeholder 2"/>
          <p:cNvSpPr>
            <a:spLocks noGrp="1"/>
          </p:cNvSpPr>
          <p:nvPr>
            <p:ph type="body" idx="12" sz="quarter"/>
          </p:nvPr>
        </p:nvSpPr>
        <p:spPr/>
        <p:txBody>
          <a:bodyPr wrap="square"/>
          <a:lstStyle/>
          <a:p>
            <a:pPr/>
            <a:r>
              <a:rPr sz="1500">
                <a:solidFill>
                  <a:srgbClr val="1A1A1A"/>
                </a:solidFill>
              </a:rPr>
              <a:t>An open site addresses three separate problems at once:</a:t>
            </a:r>
          </a:p>
          <a:p>
            <a:pPr lvl="1"/>
            <a:r>
              <a:rPr sz="1350">
                <a:solidFill>
                  <a:srgbClr val="6B6A66"/>
                </a:solidFill>
              </a:rPr>
              <a:t>GNSS multipath and sky obstruction — among the leading candidate causes of the survey noise at the present urban canal site.</a:t>
            </a:r>
          </a:p>
          <a:p>
            <a:pPr lvl="1"/>
            <a:r>
              <a:rPr sz="1350">
                <a:solidFill>
                  <a:srgbClr val="6B6A66"/>
                </a:solidFill>
              </a:rPr>
              <a:t>Camera-to-sun geometry — a site free to choose azimuth can avoid the alignment through more of the day.</a:t>
            </a:r>
          </a:p>
          <a:p>
            <a:pPr lvl="1"/>
            <a:r>
              <a:rPr sz="1350">
                <a:solidFill>
                  <a:srgbClr val="6B6A66"/>
                </a:solidFill>
              </a:rPr>
              <a:t>View geometry across the section, which sets how much of the flow the camera resolves.</a:t>
            </a:r>
          </a:p>
          <a:p>
            <a:pPr/>
            <a:r>
              <a:rPr sz="1500">
                <a:solidFill>
                  <a:srgbClr val="1A1A1A"/>
                </a:solidFill>
              </a:rPr>
              <a:t>A move costs a re-survey and a re-calibration. The survey is the expensive part.</a:t>
            </a:r>
          </a:p>
          <a:p>
            <a:pPr/>
            <a:r>
              <a:rPr sz="1500">
                <a:solidFill>
                  <a:srgbClr val="1A1A1A"/>
                </a:solidFill>
              </a:rPr>
              <a:t>Written site permission should be in hand before any unit is built for a specific site.</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Division of responsibility</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standards conformance, and the route to acceptance within PUPR data systems. Offers server capacity.</a:t>
            </a:r>
          </a:p>
          <a:p>
            <a:pPr/>
            <a:r>
              <a:rPr sz="1400">
                <a:solidFill>
                  <a:srgbClr val="1A1A1A"/>
                </a:solidFill>
              </a:rPr>
              <a:t>IPB — design, calibration methodology, training material, and the pipeline for future sensor types.</a:t>
            </a:r>
          </a:p>
          <a:p>
            <a:pPr/>
            <a:r>
              <a:rPr sz="1400">
                <a:solidFill>
                  <a:srgbClr val="1A1A1A"/>
                </a:solidFill>
              </a:rPr>
              <a:t>PMI — user of the derived information, and the operational side: installation, maintenance, incident response, spares at the local chapter.</a:t>
            </a:r>
          </a:p>
          <a:p>
            <a:pPr/>
            <a:r>
              <a:rPr sz="1400">
                <a:solidFill>
                  <a:srgbClr val="1A1A1A"/>
                </a:solidFill>
              </a:rPr>
              <a:t>Two suggestions: write the split into the collaboration agreement, and keep a lightweight joint forum for cases that do not sort into one role.</a:t>
            </a:r>
          </a:p>
          <a:p>
            <a:pPr/>
            <a:r>
              <a:rPr sz="1400">
                <a:solidFill>
                  <a:srgbClr val="1A1A1A"/>
                </a:solidFill>
              </a:rPr>
              <a:t>The commitments this implies for PMI have not been discussed with PMI National Headquarters.</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Open questions</a:t>
            </a:r>
          </a:p>
        </p:txBody>
      </p:sp>
      <p:sp>
        <p:nvSpPr>
          <p:cNvPr id="3" name="Text Placeholder 2"/>
          <p:cNvSpPr>
            <a:spLocks noGrp="1"/>
          </p:cNvSpPr>
          <p:nvPr>
            <p:ph type="body" idx="12" sz="quarter"/>
          </p:nvPr>
        </p:nvSpPr>
        <p:spPr/>
        <p:txBody>
          <a:bodyPr wrap="square"/>
          <a:lstStyle/>
          <a:p>
            <a:pPr/>
            <a:r>
              <a:rPr sz="1500">
                <a:solidFill>
                  <a:srgbClr val="1A1A1A"/>
                </a:solidFill>
              </a:rPr>
              <a:t>The cause of the two unexplained interruptions.</a:t>
            </a:r>
          </a:p>
          <a:p>
            <a:pPr/>
            <a:r>
              <a:rPr sz="1500">
                <a:solidFill>
                  <a:srgbClr val="1A1A1A"/>
                </a:solidFill>
              </a:rPr>
              <a:t>Whether the recovery-voltage setting bounds interruption duration. One observation is not a result.</a:t>
            </a:r>
          </a:p>
          <a:p>
            <a:pPr/>
            <a:r>
              <a:rPr sz="1500">
                <a:solidFill>
                  <a:srgbClr val="1A1A1A"/>
                </a:solidFill>
              </a:rPr>
              <a:t>Whether a staff gauge can be read from the camera image to sufficient precision. If it can, R1 needs no separate sensor.</a:t>
            </a:r>
          </a:p>
          <a:p>
            <a:pPr/>
            <a:r>
              <a:rPr sz="1500">
                <a:solidFill>
                  <a:srgbClr val="1A1A1A"/>
                </a:solidFill>
              </a:rPr>
              <a:t>Absolute discharge accuracy at Sukabumi, unresolved pending the survey.</a:t>
            </a:r>
          </a:p>
          <a:p>
            <a:pPr/>
            <a:r>
              <a:rPr sz="1500">
                <a:solidFill>
                  <a:srgbClr val="1A1A1A"/>
                </a:solidFill>
              </a:rPr>
              <a:t>Velocimetry performance across the surface conditions the pilot sites present.</a:t>
            </a:r>
          </a:p>
        </p:txBody>
      </p:sp>
      <p:sp>
        <p:nvSpPr>
          <p:cNvPr id="4" name="TextBox 3"/>
          <p:cNvSpPr txBox="1"/>
          <p:nvPr/>
        </p:nvSpPr>
        <p:spPr>
          <a:xfrm>
            <a:off x="3124200" y="4667250"/>
            <a:ext cx="2895600" cy="274638"/>
          </a:xfrm>
          <a:prstGeom prst="rect">
            <a:avLst/>
          </a:prstGeom>
          <a:noFill/>
        </p:spPr>
        <p:txBody>
          <a:bodyPr wrap="square">
            <a:spAutoFit/>
          </a:bodyPr>
          <a:lstStyle/>
          <a:p>
            <a:pPr algn="ctr"/>
            <a:r>
              <a:rPr sz="800">
                <a:solidFill>
                  <a:srgbClr val="6B6A66"/>
                </a:solidFill>
              </a:rPr>
              <a:t>ORC Indonesia Deployment — PMI / IPB / BHLK</a:t>
            </a:r>
          </a:p>
        </p:txBody>
      </p:sp>
      <p:sp>
        <p:nvSpPr>
          <p:cNvPr id="5" name="TextBox 4"/>
          <p:cNvSpPr txBox="1"/>
          <p:nvPr/>
        </p:nvSpPr>
        <p:spPr>
          <a:xfrm>
            <a:off x="6553200" y="4667250"/>
            <a:ext cx="2133600" cy="274638"/>
          </a:xfrm>
          <a:prstGeom prst="rect">
            <a:avLst/>
          </a:prstGeom>
          <a:noFill/>
        </p:spPr>
        <p:txBody>
          <a:bodyPr wrap="square">
            <a:spAutoFit/>
          </a:bodyPr>
          <a:lstStyle/>
          <a:p>
            <a:pPr algn="r"/>
            <a:r>
              <a:rPr sz="800">
                <a:solidFill>
                  <a:srgbClr val="6B6A66"/>
                </a:solidFill>
              </a:rPr>
              <a:t>31 / 31</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